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16x9"/>
  <p:notesSz cx="6858000" cy="9144000"/>
  <p:defaultTextStyle>
    <a:defPPr>
      <a:defRPr lang="ja-JP"/>
    </a:defPPr>
    <a:lvl1pPr marL="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nual-reader-data-viewer-opu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nual-reader-data-viewer-opu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ja-JP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ja-JP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35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ja-JP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f51648adae8180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f51648adae81804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6a94d94904a131e.png"/>
  <Relationship Id="rId3" Type="http://schemas.openxmlformats.org/officeDocument/2006/relationships/image" Target="../media/image_41b9a70fdcccb7fe.png"/>
  <Relationship Id="rId4" Type="http://schemas.openxmlformats.org/officeDocument/2006/relationships/image" Target="../media/image_f677690871d55f38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87d91e879c8ef2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24d07a7394fcacf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b2adb794a06dcfe.png"/>
  <Relationship Id="rId3" Type="http://schemas.openxmlformats.org/officeDocument/2006/relationships/image" Target="../media/image_2edcc198c2ad0a30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511f4040cf139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e04d0d0ada4d978.png"/>
  <Relationship Id="rId3" Type="http://schemas.openxmlformats.org/officeDocument/2006/relationships/image" Target="../media/image_a42902f5c4cd40bf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24d07a7394fcacf.png"/>
  <Relationship Id="rId3" Type="http://schemas.openxmlformats.org/officeDocument/2006/relationships/image" Target="../media/image_ff51648adae81804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a47b98fe971f47d.pn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1b9a70fdcccb7fe.png"/>
  <Relationship Id="rId3" Type="http://schemas.openxmlformats.org/officeDocument/2006/relationships/image" Target="../media/image_766a8ce9cd9a1d3f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1ca51bc1d54c1e1.pn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38bc6f37735d1ea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328727470a1c8b0.pn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cover-title"/>
          <p:cNvGrpSpPr/>
          <p:nvPr/>
        </p:nvGrpSpPr>
        <p:grpSpPr>
          <a:xfrm>
            <a:off x="590550" y="1428750"/>
            <a:ext cx="5447517" cy="2494979"/>
            <a:chOff x="590550" y="1428750"/>
            <a:chExt cx="5447517" cy="2494979"/>
          </a:xfrm>
        </p:grpSpPr>
        <p:sp>
          <p:nvSpPr>
            <p:cNvPr id="3" name="Rectangle 3"/>
            <p:cNvSpPr/>
            <p:nvPr/>
          </p:nvSpPr>
          <p:spPr>
            <a:xfrm>
              <a:off x="609600" y="1428750"/>
              <a:ext cx="5334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0550" y="1772602"/>
              <a:ext cx="544751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Reader Data Viewer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458402"/>
              <a:ext cx="385457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操作マニュアル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3199448"/>
              <a:ext cx="3239262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ja-JP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番号で台帳を引き、</a:t>
              </a:r>
              <a:br/>
              <a:r>
                <a:rPr lang="ja-JP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確かめた印を共有台帳へ送る</a:t>
              </a:r>
            </a:p>
          </p:txBody>
        </p:sp>
      </p:grpSp>
      <p:grpSp>
        <p:nvGrpSpPr>
          <p:cNvPr id="11" name="cover-claim"/>
          <p:cNvGrpSpPr/>
          <p:nvPr/>
        </p:nvGrpSpPr>
        <p:grpSpPr>
          <a:xfrm>
            <a:off x="609600" y="4076700"/>
            <a:ext cx="5486400" cy="1123950"/>
            <a:chOff x="609600" y="4076700"/>
            <a:chExt cx="5486400" cy="1123950"/>
          </a:xfrm>
        </p:grpSpPr>
        <p:sp>
          <p:nvSpPr>
            <p:cNvPr id="8" name="Rectangle 8"/>
            <p:cNvSpPr/>
            <p:nvPr/>
          </p:nvSpPr>
          <p:spPr>
            <a:xfrm>
              <a:off x="609600" y="4076700"/>
              <a:ext cx="5486400" cy="1123950"/>
            </a:xfrm>
            <a:prstGeom prst="roundRect">
              <a:avLst>
                <a:gd name="adj" fmla="val 101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4352925"/>
              <a:ext cx="34263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件ずつ、人が確かめて印を付ける。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4731068"/>
              <a:ext cx="4093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データ更新 → 検索 → 処理済にする → まとめて送信</a:t>
              </a:r>
            </a:p>
          </p:txBody>
        </p:sp>
      </p:grpSp>
      <p:grpSp>
        <p:nvGrpSpPr>
          <p:cNvPr id="14" name="cover-meta"/>
          <p:cNvGrpSpPr/>
          <p:nvPr/>
        </p:nvGrpSpPr>
        <p:grpSpPr>
          <a:xfrm>
            <a:off x="603504" y="5448300"/>
            <a:ext cx="5492496" cy="638556"/>
            <a:chOff x="603504" y="5448300"/>
            <a:chExt cx="5492496" cy="638556"/>
          </a:xfrm>
        </p:grpSpPr>
        <p:sp>
          <p:nvSpPr>
            <p:cNvPr id="12" name="Rectangle 12"/>
            <p:cNvSpPr/>
            <p:nvPr/>
          </p:nvSpPr>
          <p:spPr>
            <a:xfrm>
              <a:off x="609600" y="5448300"/>
              <a:ext cx="5486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504" y="5623560"/>
              <a:ext cx="44775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対象: kit/reader-data-viewer（2026-09-10 の版・adcba63）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作成: 2026-09-15（opus 版）</a:t>
              </a:r>
            </a:p>
          </p:txBody>
        </p:sp>
      </p:grpSp>
      <p:grpSp>
        <p:nvGrpSpPr>
          <p:cNvPr id="18" name="cover-shot"/>
          <p:cNvGrpSpPr/>
          <p:nvPr/>
        </p:nvGrpSpPr>
        <p:grpSpPr>
          <a:xfrm>
            <a:off x="6661404" y="1104900"/>
            <a:ext cx="4920996" cy="4658106"/>
            <a:chOff x="6661404" y="1104900"/>
            <a:chExt cx="4920996" cy="4658106"/>
          </a:xfrm>
        </p:grpSpPr>
        <p:sp>
          <p:nvSpPr>
            <p:cNvPr id="15" name="Rectangle 15"/>
            <p:cNvSpPr/>
            <p:nvPr/>
          </p:nvSpPr>
          <p:spPr>
            <a:xfrm>
              <a:off x="6667500" y="1104900"/>
              <a:ext cx="4914900" cy="4276725"/>
            </a:xfrm>
            <a:prstGeom prst="roundRect">
              <a:avLst>
                <a:gd name="adj" fmla="val 3118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9900" y="1257300"/>
              <a:ext cx="4610100" cy="3971925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661404" y="5528310"/>
              <a:ext cx="3913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主画面。処理済にして、未送信 1 件（同梱サンプル）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04266" y="6325552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この本の読み方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写真はすべて、同梱サンプルで動かした実際の画面です。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0" name="read-ways"/>
          <p:cNvGrpSpPr/>
          <p:nvPr/>
        </p:nvGrpSpPr>
        <p:grpSpPr>
          <a:xfrm>
            <a:off x="601980" y="1876425"/>
            <a:ext cx="5341620" cy="3228975"/>
            <a:chOff x="601980" y="1876425"/>
            <a:chExt cx="5341620" cy="3228975"/>
          </a:xfrm>
        </p:grpSpPr>
        <p:sp>
          <p:nvSpPr>
            <p:cNvPr id="7" name="TextBox 7"/>
            <p:cNvSpPr txBox="1"/>
            <p:nvPr/>
          </p:nvSpPr>
          <p:spPr>
            <a:xfrm>
              <a:off x="601980" y="187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どこから読むか</a:t>
              </a:r>
            </a:p>
          </p:txBody>
        </p:sp>
        <p:grpSp>
          <p:nvGrpSpPr>
            <p:cNvPr id="11" name="read-first"/>
            <p:cNvGrpSpPr/>
            <p:nvPr/>
          </p:nvGrpSpPr>
          <p:grpSpPr>
            <a:xfrm>
              <a:off x="609600" y="2209800"/>
              <a:ext cx="5334000" cy="1066800"/>
              <a:chOff x="609600" y="2209800"/>
              <a:chExt cx="5334000" cy="10668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2209800"/>
                <a:ext cx="5334000" cy="1066800"/>
              </a:xfrm>
              <a:prstGeom prst="roundRect">
                <a:avLst>
                  <a:gd name="adj" fmla="val 1071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30580" y="23907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はじめて使う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31342" y="2711768"/>
                <a:ext cx="234543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P03〜P06 で仕組みをつかみ、</a:t>
                </a:r>
                <a:br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P07 から順に操作します。</a:t>
                </a:r>
              </a:p>
            </p:txBody>
          </p:sp>
        </p:grpSp>
        <p:grpSp>
          <p:nvGrpSpPr>
            <p:cNvPr id="15" name="read-lost"/>
            <p:cNvGrpSpPr/>
            <p:nvPr/>
          </p:nvGrpSpPr>
          <p:grpSpPr>
            <a:xfrm>
              <a:off x="609600" y="3390900"/>
              <a:ext cx="5334000" cy="800100"/>
              <a:chOff x="609600" y="3390900"/>
              <a:chExt cx="5334000" cy="8001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09600" y="3390900"/>
                <a:ext cx="5334000" cy="8001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30580" y="35718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画面で迷った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1342" y="3873818"/>
                <a:ext cx="45681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P04 の画面の一覧から、その画面のページを開きます。</a:t>
                </a:r>
              </a:p>
            </p:txBody>
          </p:sp>
        </p:grpSp>
        <p:grpSp>
          <p:nvGrpSpPr>
            <p:cNvPr id="19" name="read-shared"/>
            <p:cNvGrpSpPr/>
            <p:nvPr/>
          </p:nvGrpSpPr>
          <p:grpSpPr>
            <a:xfrm>
              <a:off x="609600" y="4305300"/>
              <a:ext cx="5334000" cy="800100"/>
              <a:chOff x="609600" y="4305300"/>
              <a:chExt cx="5334000" cy="8001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09600" y="4305300"/>
                <a:ext cx="5334000" cy="8001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0580" y="4486275"/>
                <a:ext cx="28192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複数の PC で使う・困ったとき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4788218"/>
                <a:ext cx="19771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P20〜P22 を読みます。</a:t>
                </a:r>
              </a:p>
            </p:txBody>
          </p:sp>
        </p:grpSp>
      </p:grpSp>
      <p:grpSp>
        <p:nvGrpSpPr>
          <p:cNvPr id="30" name="book-rules"/>
          <p:cNvGrpSpPr/>
          <p:nvPr/>
        </p:nvGrpSpPr>
        <p:grpSpPr>
          <a:xfrm>
            <a:off x="6240780" y="1876425"/>
            <a:ext cx="5341620" cy="3228975"/>
            <a:chOff x="6240780" y="1876425"/>
            <a:chExt cx="5341620" cy="3228975"/>
          </a:xfrm>
        </p:grpSpPr>
        <p:sp>
          <p:nvSpPr>
            <p:cNvPr id="21" name="TextBox 21"/>
            <p:cNvSpPr txBox="1"/>
            <p:nvPr/>
          </p:nvSpPr>
          <p:spPr>
            <a:xfrm>
              <a:off x="6240780" y="18764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この本の約束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48400" y="2209800"/>
              <a:ext cx="5334000" cy="2895600"/>
            </a:xfrm>
            <a:prstGeom prst="roundRect">
              <a:avLst>
                <a:gd name="adj" fmla="val 3947"/>
              </a:avLst>
            </a:prstGeom>
            <a:noFill/>
            <a:ln w="9525">
              <a:solidFill>
                <a:srgbClr val="E2E7E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70142" y="2445068"/>
              <a:ext cx="40942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画面写真は、2026-09-15 に同梱サンプルで撮影した</a:t>
              </a:r>
              <a:br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実際の画面です。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3028950"/>
              <a:ext cx="4876800" cy="9525"/>
            </a:xfrm>
            <a:prstGeom prst="rect">
              <a:avLst/>
            </a:prstGeom>
            <a:solidFill>
              <a:srgbClr val="E2E7E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70142" y="322611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ボタン名と案内文は、画面の表示どおりに書きます。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3600450"/>
              <a:ext cx="4876800" cy="9525"/>
            </a:xfrm>
            <a:prstGeom prst="rect">
              <a:avLst/>
            </a:prstGeom>
            <a:solidFill>
              <a:srgbClr val="E2E7E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0142" y="37976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サンプルの氏名・番号は、架空のものです。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4171950"/>
              <a:ext cx="4876800" cy="9525"/>
            </a:xfrm>
            <a:prstGeom prst="rect">
              <a:avLst/>
            </a:prstGeom>
            <a:solidFill>
              <a:srgbClr val="E2E7E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70142" y="4369118"/>
              <a:ext cx="338270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設定の書き方は扱いません。README.md と</a:t>
              </a:r>
              <a:br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docs/settings.md を読みます。</a:t>
              </a:r>
            </a:p>
          </p:txBody>
        </p:sp>
      </p:grpSp>
      <p:grpSp>
        <p:nvGrpSpPr>
          <p:cNvPr id="35" name="screen-note"/>
          <p:cNvGrpSpPr/>
          <p:nvPr/>
        </p:nvGrpSpPr>
        <p:grpSpPr>
          <a:xfrm>
            <a:off x="609600" y="5314950"/>
            <a:ext cx="10972800" cy="723900"/>
            <a:chOff x="609600" y="5314950"/>
            <a:chExt cx="10972800" cy="723900"/>
          </a:xfrm>
        </p:grpSpPr>
        <p:sp>
          <p:nvSpPr>
            <p:cNvPr id="31" name="Rectangle 31"/>
            <p:cNvSpPr/>
            <p:nvPr/>
          </p:nvSpPr>
          <p:spPr>
            <a:xfrm>
              <a:off x="609600" y="5314950"/>
              <a:ext cx="10972800" cy="723900"/>
            </a:xfrm>
            <a:prstGeom prst="roundRect">
              <a:avLst>
                <a:gd name="adj" fmla="val 157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9600" y="5314950"/>
              <a:ext cx="47625" cy="723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9442" y="5474018"/>
              <a:ext cx="515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見出しや項目の並びは、settings.json の設定で決まります。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9442" y="57407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業務に合わせて設定した画面では、見出しや項目が写真と違います。</a:t>
              </a:r>
            </a:p>
          </p:txBody>
        </p:sp>
      </p:grpSp>
      <p:grpSp>
        <p:nvGrpSpPr>
          <p:cNvPr id="38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このアプリがすること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このアプリがすること、しないこと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53015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表をまとめるのは設定、1 件ずつ確かめるのは人です。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5" name="does"/>
          <p:cNvGrpSpPr/>
          <p:nvPr/>
        </p:nvGrpSpPr>
        <p:grpSpPr>
          <a:xfrm>
            <a:off x="609600" y="1828800"/>
            <a:ext cx="5334000" cy="3028950"/>
            <a:chOff x="609600" y="1828800"/>
            <a:chExt cx="5334000" cy="3028950"/>
          </a:xfrm>
        </p:grpSpPr>
        <p:sp>
          <p:nvSpPr>
            <p:cNvPr id="7" name="Rectangle 7"/>
            <p:cNvSpPr/>
            <p:nvPr/>
          </p:nvSpPr>
          <p:spPr>
            <a:xfrm>
              <a:off x="609600" y="1828800"/>
              <a:ext cx="5334000" cy="3028950"/>
            </a:xfrm>
            <a:prstGeom prst="roundRect">
              <a:avLst>
                <a:gd name="adj" fmla="val 377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62012" y="1999679"/>
              <a:ext cx="250389" cy="250799"/>
            </a:xfrm>
            <a:custGeom>
              <a:avLst/>
              <a:gdLst/>
              <a:ahLst/>
              <a:cxnLst/>
              <a:rect l="l" t="t" r="r" b="b"/>
              <a:pathLst>
                <a:path w="250389" h="250799">
                  <a:moveTo>
                    <a:pt x="178594" y="21288"/>
                  </a:moveTo>
                  <a:cubicBezTo>
                    <a:pt x="228212" y="49937"/>
                    <a:pt x="250389" y="109863"/>
                    <a:pt x="231374" y="163911"/>
                  </a:cubicBezTo>
                  <a:cubicBezTo>
                    <a:pt x="212360" y="217958"/>
                    <a:pt x="157547" y="250799"/>
                    <a:pt x="100920" y="242070"/>
                  </a:cubicBezTo>
                  <a:cubicBezTo>
                    <a:pt x="44294" y="233341"/>
                    <a:pt x="1915" y="185518"/>
                    <a:pt x="60" y="128253"/>
                  </a:cubicBezTo>
                  <a:lnTo>
                    <a:pt x="0" y="124396"/>
                  </a:lnTo>
                  <a:lnTo>
                    <a:pt x="60" y="120538"/>
                  </a:lnTo>
                  <a:cubicBezTo>
                    <a:pt x="1416" y="78711"/>
                    <a:pt x="24632" y="40667"/>
                    <a:pt x="61209" y="20334"/>
                  </a:cubicBezTo>
                  <a:cubicBezTo>
                    <a:pt x="97786" y="0"/>
                    <a:pt x="142352" y="362"/>
                    <a:pt x="178594" y="21288"/>
                  </a:cubicBezTo>
                  <a:close/>
                  <a:moveTo>
                    <a:pt x="163199" y="92166"/>
                  </a:moveTo>
                  <a:cubicBezTo>
                    <a:pt x="158957" y="87924"/>
                    <a:pt x="152222" y="87501"/>
                    <a:pt x="147483" y="91177"/>
                  </a:cubicBezTo>
                  <a:lnTo>
                    <a:pt x="146364" y="92166"/>
                  </a:lnTo>
                  <a:lnTo>
                    <a:pt x="107156" y="131361"/>
                  </a:lnTo>
                  <a:lnTo>
                    <a:pt x="91761" y="115978"/>
                  </a:lnTo>
                  <a:lnTo>
                    <a:pt x="90642" y="114990"/>
                  </a:lnTo>
                  <a:cubicBezTo>
                    <a:pt x="85902" y="111316"/>
                    <a:pt x="79170" y="111741"/>
                    <a:pt x="74929" y="115981"/>
                  </a:cubicBezTo>
                  <a:cubicBezTo>
                    <a:pt x="70689" y="120222"/>
                    <a:pt x="70264" y="126954"/>
                    <a:pt x="73938" y="131694"/>
                  </a:cubicBezTo>
                  <a:lnTo>
                    <a:pt x="74926" y="132813"/>
                  </a:lnTo>
                  <a:lnTo>
                    <a:pt x="98739" y="156626"/>
                  </a:lnTo>
                  <a:lnTo>
                    <a:pt x="99858" y="157614"/>
                  </a:lnTo>
                  <a:cubicBezTo>
                    <a:pt x="104153" y="160947"/>
                    <a:pt x="110160" y="160947"/>
                    <a:pt x="114455" y="157614"/>
                  </a:cubicBezTo>
                  <a:lnTo>
                    <a:pt x="115574" y="156626"/>
                  </a:lnTo>
                  <a:lnTo>
                    <a:pt x="163199" y="109001"/>
                  </a:lnTo>
                  <a:lnTo>
                    <a:pt x="164187" y="107882"/>
                  </a:lnTo>
                  <a:cubicBezTo>
                    <a:pt x="167864" y="103142"/>
                    <a:pt x="167440" y="96407"/>
                    <a:pt x="163199" y="92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1580" y="20574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します</a:t>
              </a:r>
            </a:p>
          </p:txBody>
        </p:sp>
        <p:grpSp>
          <p:nvGrpSpPr>
            <p:cNvPr id="24" name="does-items"/>
            <p:cNvGrpSpPr/>
            <p:nvPr/>
          </p:nvGrpSpPr>
          <p:grpSpPr>
            <a:xfrm>
              <a:off x="871538" y="2454592"/>
              <a:ext cx="4707445" cy="2207133"/>
              <a:chOff x="871538" y="2454592"/>
              <a:chExt cx="4707445" cy="2207133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871538" y="2509838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21842" y="2454592"/>
                <a:ext cx="4329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CSV / XLSX を読み、設定の手順で 1 つの台帳にする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871538" y="2833688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842" y="2778442"/>
                <a:ext cx="32577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番号で台帳を検索し、1 件を画面に出す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871538" y="3157538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21842" y="3102292"/>
                <a:ext cx="45571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件ずつ、確認の状態（未処理 / 処理済など）を付ける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871538" y="3481388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1842" y="3426142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付けた状態を手元に溜め、まとめて共有台帳へ送る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871538" y="3805238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21842" y="3749992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条件に合う行を、台帳から削除する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71538" y="4129088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21842" y="4073842"/>
                <a:ext cx="32959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台帳から選んだ項目を、CSV に書き出す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871538" y="4452938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842" y="4397692"/>
                <a:ext cx="45571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設定すれば、ほかのアプリの欄を読んで自動で検索する</a:t>
                </a:r>
              </a:p>
            </p:txBody>
          </p:sp>
        </p:grpSp>
      </p:grpSp>
      <p:grpSp>
        <p:nvGrpSpPr>
          <p:cNvPr id="42" name="does-not"/>
          <p:cNvGrpSpPr/>
          <p:nvPr/>
        </p:nvGrpSpPr>
        <p:grpSpPr>
          <a:xfrm>
            <a:off x="6248400" y="1828800"/>
            <a:ext cx="5334000" cy="3028950"/>
            <a:chOff x="6248400" y="1828800"/>
            <a:chExt cx="5334000" cy="3028950"/>
          </a:xfrm>
        </p:grpSpPr>
        <p:sp>
          <p:nvSpPr>
            <p:cNvPr id="26" name="Rectangle 26"/>
            <p:cNvSpPr/>
            <p:nvPr/>
          </p:nvSpPr>
          <p:spPr>
            <a:xfrm>
              <a:off x="6248400" y="1828800"/>
              <a:ext cx="5334000" cy="3028950"/>
            </a:xfrm>
            <a:prstGeom prst="roundRect">
              <a:avLst>
                <a:gd name="adj" fmla="val 3774"/>
              </a:avLst>
            </a:prstGeom>
            <a:noFill/>
            <a:ln w="9525">
              <a:solidFill>
                <a:srgbClr val="E2E7E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500812" y="1999679"/>
              <a:ext cx="250389" cy="250799"/>
            </a:xfrm>
            <a:custGeom>
              <a:avLst/>
              <a:gdLst/>
              <a:ahLst/>
              <a:cxnLst/>
              <a:rect l="l" t="t" r="r" b="b"/>
              <a:pathLst>
                <a:path w="250389" h="250799">
                  <a:moveTo>
                    <a:pt x="178594" y="21288"/>
                  </a:moveTo>
                  <a:cubicBezTo>
                    <a:pt x="228212" y="49937"/>
                    <a:pt x="250389" y="109863"/>
                    <a:pt x="231374" y="163911"/>
                  </a:cubicBezTo>
                  <a:cubicBezTo>
                    <a:pt x="212360" y="217958"/>
                    <a:pt x="157547" y="250799"/>
                    <a:pt x="100920" y="242070"/>
                  </a:cubicBezTo>
                  <a:cubicBezTo>
                    <a:pt x="44294" y="233341"/>
                    <a:pt x="1915" y="185518"/>
                    <a:pt x="60" y="128253"/>
                  </a:cubicBezTo>
                  <a:lnTo>
                    <a:pt x="0" y="124396"/>
                  </a:lnTo>
                  <a:lnTo>
                    <a:pt x="60" y="120538"/>
                  </a:lnTo>
                  <a:cubicBezTo>
                    <a:pt x="1416" y="78711"/>
                    <a:pt x="24632" y="40667"/>
                    <a:pt x="61209" y="20334"/>
                  </a:cubicBezTo>
                  <a:cubicBezTo>
                    <a:pt x="97786" y="0"/>
                    <a:pt x="142352" y="362"/>
                    <a:pt x="178594" y="21288"/>
                  </a:cubicBezTo>
                  <a:close/>
                  <a:moveTo>
                    <a:pt x="101334" y="90344"/>
                  </a:moveTo>
                  <a:cubicBezTo>
                    <a:pt x="96172" y="87271"/>
                    <a:pt x="89530" y="88525"/>
                    <a:pt x="85843" y="93268"/>
                  </a:cubicBezTo>
                  <a:cubicBezTo>
                    <a:pt x="82157" y="98011"/>
                    <a:pt x="82581" y="104757"/>
                    <a:pt x="86832" y="109001"/>
                  </a:cubicBezTo>
                  <a:lnTo>
                    <a:pt x="102215" y="124396"/>
                  </a:lnTo>
                  <a:lnTo>
                    <a:pt x="86832" y="139791"/>
                  </a:lnTo>
                  <a:lnTo>
                    <a:pt x="85844" y="140910"/>
                  </a:lnTo>
                  <a:cubicBezTo>
                    <a:pt x="82004" y="145876"/>
                    <a:pt x="82680" y="152971"/>
                    <a:pt x="87389" y="157123"/>
                  </a:cubicBezTo>
                  <a:cubicBezTo>
                    <a:pt x="92097" y="161275"/>
                    <a:pt x="99221" y="161058"/>
                    <a:pt x="103668" y="156626"/>
                  </a:cubicBezTo>
                  <a:lnTo>
                    <a:pt x="119062" y="141243"/>
                  </a:lnTo>
                  <a:lnTo>
                    <a:pt x="134457" y="156626"/>
                  </a:lnTo>
                  <a:lnTo>
                    <a:pt x="135576" y="157614"/>
                  </a:lnTo>
                  <a:cubicBezTo>
                    <a:pt x="140543" y="161454"/>
                    <a:pt x="147638" y="160779"/>
                    <a:pt x="151790" y="156070"/>
                  </a:cubicBezTo>
                  <a:cubicBezTo>
                    <a:pt x="155942" y="151361"/>
                    <a:pt x="155724" y="144237"/>
                    <a:pt x="151293" y="139791"/>
                  </a:cubicBezTo>
                  <a:lnTo>
                    <a:pt x="135910" y="124396"/>
                  </a:lnTo>
                  <a:lnTo>
                    <a:pt x="151293" y="109001"/>
                  </a:lnTo>
                  <a:lnTo>
                    <a:pt x="152281" y="107882"/>
                  </a:lnTo>
                  <a:cubicBezTo>
                    <a:pt x="156121" y="102915"/>
                    <a:pt x="155445" y="95821"/>
                    <a:pt x="150736" y="91668"/>
                  </a:cubicBezTo>
                  <a:cubicBezTo>
                    <a:pt x="146028" y="87516"/>
                    <a:pt x="138904" y="87734"/>
                    <a:pt x="134457" y="92166"/>
                  </a:cubicBezTo>
                  <a:lnTo>
                    <a:pt x="119062" y="107548"/>
                  </a:lnTo>
                  <a:lnTo>
                    <a:pt x="103668" y="92166"/>
                  </a:lnTo>
                  <a:lnTo>
                    <a:pt x="102549" y="911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0380" y="2057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しません</a:t>
              </a:r>
            </a:p>
          </p:txBody>
        </p:sp>
        <p:grpSp>
          <p:nvGrpSpPr>
            <p:cNvPr id="41" name="does-not-items"/>
            <p:cNvGrpSpPr/>
            <p:nvPr/>
          </p:nvGrpSpPr>
          <p:grpSpPr>
            <a:xfrm>
              <a:off x="6510338" y="2454592"/>
              <a:ext cx="3980497" cy="1883283"/>
              <a:chOff x="6510338" y="2454592"/>
              <a:chExt cx="3980497" cy="1883283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510338" y="2509838"/>
                <a:ext cx="66675" cy="66675"/>
              </a:xfrm>
              <a:prstGeom prst="ellipse">
                <a:avLst/>
              </a:prstGeom>
              <a:solidFill>
                <a:srgbClr val="5D6B7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660642" y="2454592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実物のカードリーダーを制御する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6510338" y="2833688"/>
                <a:ext cx="66675" cy="66675"/>
              </a:xfrm>
              <a:prstGeom prst="ellipse">
                <a:avLst/>
              </a:prstGeom>
              <a:solidFill>
                <a:srgbClr val="5D6B7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660642" y="2778442"/>
                <a:ext cx="3830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ファイルが届いたのを合図に、自動で更新する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6510338" y="3157538"/>
                <a:ext cx="66675" cy="66675"/>
              </a:xfrm>
              <a:prstGeom prst="ellipse">
                <a:avLst/>
              </a:prstGeom>
              <a:solidFill>
                <a:srgbClr val="5D6B7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660642" y="3102292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複数の行の状態を、まとめて変える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510338" y="3481388"/>
                <a:ext cx="66675" cy="66675"/>
              </a:xfrm>
              <a:prstGeom prst="ellipse">
                <a:avLst/>
              </a:prstGeom>
              <a:solidFill>
                <a:srgbClr val="5D6B7A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660642" y="3426142"/>
                <a:ext cx="3028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任意のプログラムや SQL を実行する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6510338" y="3805238"/>
                <a:ext cx="66675" cy="66675"/>
              </a:xfrm>
              <a:prstGeom prst="ellipse">
                <a:avLst/>
              </a:prstGeom>
              <a:solidFill>
                <a:srgbClr val="5D6B7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660642" y="374999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データベースへ接続する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6510338" y="4129088"/>
                <a:ext cx="66675" cy="66675"/>
              </a:xfrm>
              <a:prstGeom prst="ellipse">
                <a:avLst/>
              </a:prstGeom>
              <a:solidFill>
                <a:srgbClr val="5D6B7A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660642" y="4073842"/>
                <a:ext cx="28909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Excel の書式や数式を、台帳に残す</a:t>
                </a:r>
              </a:p>
            </p:txBody>
          </p:sp>
        </p:grpSp>
      </p:grpSp>
      <p:grpSp>
        <p:nvGrpSpPr>
          <p:cNvPr id="47" name="settings-note"/>
          <p:cNvGrpSpPr/>
          <p:nvPr/>
        </p:nvGrpSpPr>
        <p:grpSpPr>
          <a:xfrm>
            <a:off x="609600" y="5086350"/>
            <a:ext cx="10972800" cy="914400"/>
            <a:chOff x="609600" y="5086350"/>
            <a:chExt cx="10972800" cy="914400"/>
          </a:xfrm>
        </p:grpSpPr>
        <p:sp>
          <p:nvSpPr>
            <p:cNvPr id="43" name="Rectangle 43"/>
            <p:cNvSpPr/>
            <p:nvPr/>
          </p:nvSpPr>
          <p:spPr>
            <a:xfrm>
              <a:off x="609600" y="508635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9600" y="5086350"/>
              <a:ext cx="47625" cy="914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9442" y="5302568"/>
              <a:ext cx="5395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業務の流れは、プログラムではなく settings.json に書きます。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9442" y="5626418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結合・抽出・計算・マージ・削除などの一般的な表の操作を、設定で組み合わせます。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このアプリがすること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使い方の流れと、出てくる画面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62481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台帳をまとめたあとは「検索 → 処理済 → 送信」を繰り返します。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34" name="flow"/>
          <p:cNvGrpSpPr/>
          <p:nvPr/>
        </p:nvGrpSpPr>
        <p:grpSpPr>
          <a:xfrm>
            <a:off x="609600" y="1828800"/>
            <a:ext cx="10972800" cy="1260634"/>
            <a:chOff x="609600" y="1828800"/>
            <a:chExt cx="10972800" cy="1260634"/>
          </a:xfrm>
        </p:grpSpPr>
        <p:sp>
          <p:nvSpPr>
            <p:cNvPr id="7" name="Freeform 7"/>
            <p:cNvSpPr/>
            <p:nvPr/>
          </p:nvSpPr>
          <p:spPr>
            <a:xfrm>
              <a:off x="609600" y="1828800"/>
              <a:ext cx="2368296" cy="914400"/>
            </a:xfrm>
            <a:prstGeom prst="homePlate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760726" y="1828800"/>
              <a:ext cx="2368296" cy="914400"/>
            </a:xfrm>
            <a:prstGeom prst="chevron">
              <a:avLst>
                <a:gd name="adj" fmla="val 3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911852" y="1828800"/>
              <a:ext cx="2368296" cy="914400"/>
            </a:xfrm>
            <a:prstGeom prst="chevron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062978" y="1828800"/>
              <a:ext cx="2368296" cy="914400"/>
            </a:xfrm>
            <a:prstGeom prst="chevron">
              <a:avLst>
                <a:gd name="adj" fmla="val 3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214104" y="1828800"/>
              <a:ext cx="2368296" cy="914400"/>
            </a:xfrm>
            <a:prstGeom prst="chevron">
              <a:avLst>
                <a:gd name="adj" fmla="val 30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33" name="flow-labels"/>
            <p:cNvGrpSpPr/>
            <p:nvPr/>
          </p:nvGrpSpPr>
          <p:grpSpPr>
            <a:xfrm>
              <a:off x="1050417" y="1964531"/>
              <a:ext cx="10099162" cy="1124903"/>
              <a:chOff x="1050417" y="1964531"/>
              <a:chExt cx="10099162" cy="1124903"/>
            </a:xfrm>
          </p:grpSpPr>
          <p:grpSp>
            <p:nvGrpSpPr>
              <p:cNvPr id="14" name="stage-1-label"/>
              <p:cNvGrpSpPr/>
              <p:nvPr/>
            </p:nvGrpSpPr>
            <p:grpSpPr>
              <a:xfrm>
                <a:off x="1050417" y="1964531"/>
                <a:ext cx="1213866" cy="715994"/>
                <a:chOff x="1050417" y="1964531"/>
                <a:chExt cx="1213866" cy="715994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1436781" y="1964531"/>
                  <a:ext cx="44113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ja-JP" sz="112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手順 1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050417" y="2187892"/>
                  <a:ext cx="1213866" cy="4926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入力ファイルを</a:t>
                  </a:r>
                  <a:br/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置く</a:t>
                  </a:r>
                </a:p>
              </p:txBody>
            </p:sp>
          </p:grpSp>
          <p:grpSp>
            <p:nvGrpSpPr>
              <p:cNvPr id="17" name="stage-2-label"/>
              <p:cNvGrpSpPr/>
              <p:nvPr/>
            </p:nvGrpSpPr>
            <p:grpSpPr>
              <a:xfrm>
                <a:off x="3422142" y="1964531"/>
                <a:ext cx="1042416" cy="715994"/>
                <a:chOff x="3422142" y="1964531"/>
                <a:chExt cx="1042416" cy="715994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3722781" y="1964531"/>
                  <a:ext cx="44113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ja-JP" sz="112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手順 2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422142" y="2187892"/>
                  <a:ext cx="1042416" cy="4926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データ更新で</a:t>
                  </a:r>
                  <a:br/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台帳を作る</a:t>
                  </a:r>
                </a:p>
              </p:txBody>
            </p:sp>
          </p:grpSp>
          <p:grpSp>
            <p:nvGrpSpPr>
              <p:cNvPr id="20" name="stage-3-label"/>
              <p:cNvGrpSpPr/>
              <p:nvPr/>
            </p:nvGrpSpPr>
            <p:grpSpPr>
              <a:xfrm>
                <a:off x="5489067" y="1964531"/>
                <a:ext cx="1213866" cy="715994"/>
                <a:chOff x="5489067" y="1964531"/>
                <a:chExt cx="1213866" cy="715994"/>
              </a:xfrm>
            </p:grpSpPr>
            <p:sp>
              <p:nvSpPr>
                <p:cNvPr id="18" name="TextBox 18"/>
                <p:cNvSpPr txBox="1"/>
                <p:nvPr/>
              </p:nvSpPr>
              <p:spPr>
                <a:xfrm>
                  <a:off x="5875431" y="1964531"/>
                  <a:ext cx="44113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ja-JP" sz="112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手順 3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489067" y="2187892"/>
                  <a:ext cx="1213866" cy="4926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番号で検索して</a:t>
                  </a:r>
                  <a:br/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確かめる</a:t>
                  </a:r>
                </a:p>
              </p:txBody>
            </p:sp>
          </p:grpSp>
          <p:grpSp>
            <p:nvGrpSpPr>
              <p:cNvPr id="23" name="stage-4-label"/>
              <p:cNvGrpSpPr/>
              <p:nvPr/>
            </p:nvGrpSpPr>
            <p:grpSpPr>
              <a:xfrm>
                <a:off x="7727442" y="1964531"/>
                <a:ext cx="1042416" cy="715994"/>
                <a:chOff x="7727442" y="1964531"/>
                <a:chExt cx="1042416" cy="715994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8028081" y="1964531"/>
                  <a:ext cx="44113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ja-JP" sz="112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手順 4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727442" y="2187892"/>
                  <a:ext cx="1042416" cy="4926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処理済にして</a:t>
                  </a:r>
                  <a:br/>
                  <a:r>
                    <a:rPr lang="ja-JP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送信する</a:t>
                  </a:r>
                </a:p>
              </p:txBody>
            </p:sp>
          </p:grpSp>
          <p:grpSp>
            <p:nvGrpSpPr>
              <p:cNvPr id="26" name="stage-5-label"/>
              <p:cNvGrpSpPr/>
              <p:nvPr/>
            </p:nvGrpSpPr>
            <p:grpSpPr>
              <a:xfrm>
                <a:off x="9653021" y="1964531"/>
                <a:ext cx="1496558" cy="715994"/>
                <a:chOff x="9653021" y="1964531"/>
                <a:chExt cx="1496558" cy="715994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9653021" y="1964531"/>
                  <a:ext cx="149655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ja-JP" sz="112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手順 5（必要なとき）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880092" y="2187892"/>
                  <a:ext cx="1042416" cy="4926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ja-JP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処理済の行を</a:t>
                  </a:r>
                  <a:br/>
                  <a:r>
                    <a:rPr lang="ja-JP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削除する</a:t>
                  </a:r>
                </a:p>
              </p:txBody>
            </p:sp>
          </p:grpSp>
          <p:grpSp>
            <p:nvGrpSpPr>
              <p:cNvPr id="32" name="stage-pages"/>
              <p:cNvGrpSpPr/>
              <p:nvPr/>
            </p:nvGrpSpPr>
            <p:grpSpPr>
              <a:xfrm>
                <a:off x="1520205" y="2869406"/>
                <a:ext cx="9018240" cy="220028"/>
                <a:chOff x="1520205" y="2869406"/>
                <a:chExt cx="9018240" cy="220028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1520205" y="2869406"/>
                  <a:ext cx="27429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P07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630966" y="2869406"/>
                  <a:ext cx="62476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P08–P09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783616" y="2869406"/>
                  <a:ext cx="62476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P10–P13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936266" y="2869406"/>
                  <a:ext cx="62476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P14–P16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0264155" y="2869406"/>
                  <a:ext cx="27429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P17</a:t>
                  </a:r>
                </a:p>
              </p:txBody>
            </p:sp>
          </p:grpSp>
        </p:grpSp>
      </p:grpSp>
      <p:grpSp>
        <p:nvGrpSpPr>
          <p:cNvPr id="51" name="screens-left"/>
          <p:cNvGrpSpPr/>
          <p:nvPr/>
        </p:nvGrpSpPr>
        <p:grpSpPr>
          <a:xfrm>
            <a:off x="602742" y="3219450"/>
            <a:ext cx="5346573" cy="2867406"/>
            <a:chOff x="602742" y="3219450"/>
            <a:chExt cx="5346573" cy="2867406"/>
          </a:xfrm>
        </p:grpSpPr>
        <p:sp>
          <p:nvSpPr>
            <p:cNvPr id="35" name="Rectangle 35"/>
            <p:cNvSpPr/>
            <p:nvPr/>
          </p:nvSpPr>
          <p:spPr>
            <a:xfrm>
              <a:off x="609600" y="3219450"/>
              <a:ext cx="53340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742" y="33975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主画面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75025" y="34218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3504" y="3642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検索・表示・処理済・送信をする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2742" y="3950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更新の確認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61392" y="3974306"/>
              <a:ext cx="687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P08・P16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3504" y="41948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台帳を作る・書き換える前に出る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27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レコード更新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75025" y="45267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P09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504" y="4747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［データ更新］で開く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2742" y="5054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該当案件（候補一覧）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75025" y="50792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3504" y="529971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検索で 2 件以上見つかったときに出る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2742" y="5607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75025" y="56316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P15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3504" y="5852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［変更をまとめて送信］で出る</a:t>
              </a:r>
            </a:p>
          </p:txBody>
        </p:sp>
      </p:grpSp>
      <p:grpSp>
        <p:nvGrpSpPr>
          <p:cNvPr id="68" name="screens-right"/>
          <p:cNvGrpSpPr/>
          <p:nvPr/>
        </p:nvGrpSpPr>
        <p:grpSpPr>
          <a:xfrm>
            <a:off x="6241542" y="3219450"/>
            <a:ext cx="5346573" cy="2867406"/>
            <a:chOff x="6241542" y="3219450"/>
            <a:chExt cx="5346573" cy="2867406"/>
          </a:xfrm>
        </p:grpSpPr>
        <p:sp>
          <p:nvSpPr>
            <p:cNvPr id="52" name="Rectangle 52"/>
            <p:cNvSpPr/>
            <p:nvPr/>
          </p:nvSpPr>
          <p:spPr>
            <a:xfrm>
              <a:off x="6248400" y="3219450"/>
              <a:ext cx="53340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41542" y="3397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台帳の更新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13825" y="34218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P16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2304" y="3642360"/>
              <a:ext cx="3694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未処理に戻った行や、ほかの PC の変更を知らせる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1542" y="3950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レコード削除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13825" y="3974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P17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42304" y="41948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［データ削除］で開く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415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テーブル出力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313825" y="45267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P18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42304" y="47472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［帳票出力］で開く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41542" y="5054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設定・画面から選ぶ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313825" y="50792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P19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42304" y="5299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［設定］で開く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41542" y="56073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送信できなかったレコード・データを読めません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13825" y="563165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P21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42304" y="5852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困ったときに出る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このアプリがすること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用意するものと、できるファイル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台帳は同梱されません。最初の起動で作ります。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4" name="prepare"/>
          <p:cNvGrpSpPr/>
          <p:nvPr/>
        </p:nvGrpSpPr>
        <p:grpSpPr>
          <a:xfrm>
            <a:off x="601980" y="1876425"/>
            <a:ext cx="4960620" cy="3248025"/>
            <a:chOff x="601980" y="1876425"/>
            <a:chExt cx="4960620" cy="3248025"/>
          </a:xfrm>
        </p:grpSpPr>
        <p:sp>
          <p:nvSpPr>
            <p:cNvPr id="7" name="TextBox 7"/>
            <p:cNvSpPr txBox="1"/>
            <p:nvPr/>
          </p:nvSpPr>
          <p:spPr>
            <a:xfrm>
              <a:off x="601980" y="18764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用意するもの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209800"/>
              <a:ext cx="4953000" cy="2914650"/>
            </a:xfrm>
            <a:prstGeom prst="roundRect">
              <a:avLst>
                <a:gd name="adj" fmla="val 392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prepare-windows"/>
            <p:cNvGrpSpPr/>
            <p:nvPr/>
          </p:nvGrpSpPr>
          <p:grpSpPr>
            <a:xfrm>
              <a:off x="831342" y="2387918"/>
              <a:ext cx="3973561" cy="479488"/>
              <a:chOff x="831342" y="2387918"/>
              <a:chExt cx="3973561" cy="47948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1342" y="2387918"/>
                <a:ext cx="16532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64 ビット Windows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32104" y="2632710"/>
                <a:ext cx="39727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Windows PowerShell 5.1（.NET Framework・WPF）</a:t>
                </a:r>
              </a:p>
            </p:txBody>
          </p:sp>
        </p:grpSp>
        <p:grpSp>
          <p:nvGrpSpPr>
            <p:cNvPr id="14" name="prepare-webview2"/>
            <p:cNvGrpSpPr/>
            <p:nvPr/>
          </p:nvGrpSpPr>
          <p:grpSpPr>
            <a:xfrm>
              <a:off x="831342" y="2921318"/>
              <a:ext cx="3436642" cy="479488"/>
              <a:chOff x="831342" y="2921318"/>
              <a:chExt cx="3436642" cy="47948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31342" y="2921318"/>
                <a:ext cx="1684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WebView2 Runtime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32104" y="3166110"/>
                <a:ext cx="34358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DLL は同梱。Runtime は端末に入っているもの</a:t>
                </a:r>
              </a:p>
            </p:txBody>
          </p:sp>
        </p:grpSp>
        <p:grpSp>
          <p:nvGrpSpPr>
            <p:cNvPr id="17" name="prepare-app"/>
            <p:cNvGrpSpPr/>
            <p:nvPr/>
          </p:nvGrpSpPr>
          <p:grpSpPr>
            <a:xfrm>
              <a:off x="831342" y="3454718"/>
              <a:ext cx="4269293" cy="479488"/>
              <a:chOff x="831342" y="3454718"/>
              <a:chExt cx="4269293" cy="47948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31342" y="34547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アプリ一式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2104" y="3699510"/>
                <a:ext cx="42685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ReaderDataViewer.vbs・settings.json・src・web・lib</a:t>
                </a:r>
              </a:p>
            </p:txBody>
          </p:sp>
        </p:grpSp>
        <p:grpSp>
          <p:nvGrpSpPr>
            <p:cNvPr id="20" name="prepare-inputs"/>
            <p:cNvGrpSpPr/>
            <p:nvPr/>
          </p:nvGrpSpPr>
          <p:grpSpPr>
            <a:xfrm>
              <a:off x="831342" y="3988118"/>
              <a:ext cx="4269638" cy="479488"/>
              <a:chOff x="831342" y="3988118"/>
              <a:chExt cx="4269638" cy="479488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31342" y="39881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入力ファイル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32104" y="4232910"/>
                <a:ext cx="42688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settings.json で決めた data フォルダに置く CSV / XLSX</a:t>
                </a:r>
              </a:p>
            </p:txBody>
          </p:sp>
        </p:grpSp>
        <p:grpSp>
          <p:nvGrpSpPr>
            <p:cNvPr id="23" name="prepare-share"/>
            <p:cNvGrpSpPr/>
            <p:nvPr/>
          </p:nvGrpSpPr>
          <p:grpSpPr>
            <a:xfrm>
              <a:off x="831342" y="4521518"/>
              <a:ext cx="3264271" cy="479488"/>
              <a:chOff x="831342" y="4521518"/>
              <a:chExt cx="3264271" cy="47948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831342" y="4521518"/>
                <a:ext cx="32642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共有フォルダ（複数の PC で使うとき）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2104" y="4766310"/>
                <a:ext cx="24024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全 PC から同じパスで開ける場所</a:t>
                </a:r>
              </a:p>
            </p:txBody>
          </p:sp>
        </p:grpSp>
      </p:grpSp>
      <p:grpSp>
        <p:nvGrpSpPr>
          <p:cNvPr id="39" name="created-files"/>
          <p:cNvGrpSpPr/>
          <p:nvPr/>
        </p:nvGrpSpPr>
        <p:grpSpPr>
          <a:xfrm>
            <a:off x="5859780" y="1876425"/>
            <a:ext cx="5722620" cy="3248025"/>
            <a:chOff x="5859780" y="1876425"/>
            <a:chExt cx="5722620" cy="3248025"/>
          </a:xfrm>
        </p:grpSpPr>
        <p:sp>
          <p:nvSpPr>
            <p:cNvPr id="25" name="TextBox 25"/>
            <p:cNvSpPr txBox="1"/>
            <p:nvPr/>
          </p:nvSpPr>
          <p:spPr>
            <a:xfrm>
              <a:off x="5859780" y="187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できるファイル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67400" y="2209800"/>
              <a:ext cx="5715000" cy="2914650"/>
            </a:xfrm>
            <a:prstGeom prst="roundRect">
              <a:avLst>
                <a:gd name="adj" fmla="val 3922"/>
              </a:avLst>
            </a:prstGeom>
            <a:noFill/>
            <a:ln w="9525">
              <a:solidFill>
                <a:srgbClr val="E2E7EC"/>
              </a:solidFill>
            </a:ln>
          </p:spPr>
        </p:sp>
        <p:grpSp>
          <p:nvGrpSpPr>
            <p:cNvPr id="30" name="files-ledger-folder"/>
            <p:cNvGrpSpPr/>
            <p:nvPr/>
          </p:nvGrpSpPr>
          <p:grpSpPr>
            <a:xfrm>
              <a:off x="6113462" y="2368868"/>
              <a:ext cx="4427284" cy="955738"/>
              <a:chOff x="6113462" y="2368868"/>
              <a:chExt cx="4427284" cy="95573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113462" y="2369344"/>
                <a:ext cx="174627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74627" h="148432">
                    <a:moveTo>
                      <a:pt x="61120" y="0"/>
                    </a:moveTo>
                    <a:cubicBezTo>
                      <a:pt x="63039" y="0"/>
                      <a:pt x="64904" y="632"/>
                      <a:pt x="66428" y="1799"/>
                    </a:cubicBezTo>
                    <a:lnTo>
                      <a:pt x="67301" y="2558"/>
                    </a:lnTo>
                    <a:lnTo>
                      <a:pt x="90928" y="26194"/>
                    </a:lnTo>
                    <a:lnTo>
                      <a:pt x="148432" y="26194"/>
                    </a:lnTo>
                    <a:cubicBezTo>
                      <a:pt x="162302" y="26193"/>
                      <a:pt x="173768" y="37005"/>
                      <a:pt x="174582" y="50851"/>
                    </a:cubicBezTo>
                    <a:lnTo>
                      <a:pt x="174626" y="52388"/>
                    </a:lnTo>
                    <a:lnTo>
                      <a:pt x="174626" y="122238"/>
                    </a:lnTo>
                    <a:cubicBezTo>
                      <a:pt x="174627" y="136108"/>
                      <a:pt x="163815" y="147574"/>
                      <a:pt x="149969" y="148388"/>
                    </a:cubicBezTo>
                    <a:lnTo>
                      <a:pt x="148432" y="148431"/>
                    </a:lnTo>
                    <a:lnTo>
                      <a:pt x="26195" y="148431"/>
                    </a:lnTo>
                    <a:cubicBezTo>
                      <a:pt x="12324" y="148432"/>
                      <a:pt x="858" y="137621"/>
                      <a:pt x="44" y="123774"/>
                    </a:cubicBezTo>
                    <a:lnTo>
                      <a:pt x="1" y="122238"/>
                    </a:lnTo>
                    <a:lnTo>
                      <a:pt x="1" y="26194"/>
                    </a:lnTo>
                    <a:cubicBezTo>
                      <a:pt x="0" y="12324"/>
                      <a:pt x="10812" y="858"/>
                      <a:pt x="24658" y="44"/>
                    </a:cubicBezTo>
                    <a:lnTo>
                      <a:pt x="26195" y="0"/>
                    </a:lnTo>
                    <a:lnTo>
                      <a:pt x="611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374892" y="23688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台帳のフォルダ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75654" y="2632710"/>
                <a:ext cx="4165092" cy="691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台帳（.xlsx。アプリが持つ LEDGER シート 1 枚）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.lock と .version（書き込みの印。台帳と同じ場所に置く）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操作ログ &lt;台帳名&gt;-操作ログ-&lt;端末名&gt;.csv（1 操作 1 行）</a:t>
                </a:r>
              </a:p>
            </p:txBody>
          </p:sp>
        </p:grpSp>
        <p:grpSp>
          <p:nvGrpSpPr>
            <p:cNvPr id="34" name="files-app-folder"/>
            <p:cNvGrpSpPr/>
            <p:nvPr/>
          </p:nvGrpSpPr>
          <p:grpSpPr>
            <a:xfrm>
              <a:off x="6113462" y="3473768"/>
              <a:ext cx="3665284" cy="727138"/>
              <a:chOff x="6113462" y="3473768"/>
              <a:chExt cx="3665284" cy="72713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113462" y="3474244"/>
                <a:ext cx="174627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74627" h="148432">
                    <a:moveTo>
                      <a:pt x="61120" y="0"/>
                    </a:moveTo>
                    <a:cubicBezTo>
                      <a:pt x="63039" y="0"/>
                      <a:pt x="64904" y="632"/>
                      <a:pt x="66428" y="1799"/>
                    </a:cubicBezTo>
                    <a:lnTo>
                      <a:pt x="67301" y="2558"/>
                    </a:lnTo>
                    <a:lnTo>
                      <a:pt x="90928" y="26194"/>
                    </a:lnTo>
                    <a:lnTo>
                      <a:pt x="148432" y="26194"/>
                    </a:lnTo>
                    <a:cubicBezTo>
                      <a:pt x="162302" y="26193"/>
                      <a:pt x="173768" y="37005"/>
                      <a:pt x="174582" y="50851"/>
                    </a:cubicBezTo>
                    <a:lnTo>
                      <a:pt x="174626" y="52388"/>
                    </a:lnTo>
                    <a:lnTo>
                      <a:pt x="174626" y="122238"/>
                    </a:lnTo>
                    <a:cubicBezTo>
                      <a:pt x="174627" y="136108"/>
                      <a:pt x="163815" y="147574"/>
                      <a:pt x="149969" y="148388"/>
                    </a:cubicBezTo>
                    <a:lnTo>
                      <a:pt x="148432" y="148431"/>
                    </a:lnTo>
                    <a:lnTo>
                      <a:pt x="26195" y="148431"/>
                    </a:lnTo>
                    <a:cubicBezTo>
                      <a:pt x="12324" y="148432"/>
                      <a:pt x="858" y="137621"/>
                      <a:pt x="44" y="123774"/>
                    </a:cubicBezTo>
                    <a:lnTo>
                      <a:pt x="1" y="122238"/>
                    </a:lnTo>
                    <a:lnTo>
                      <a:pt x="1" y="26194"/>
                    </a:lnTo>
                    <a:cubicBezTo>
                      <a:pt x="0" y="12324"/>
                      <a:pt x="10812" y="858"/>
                      <a:pt x="24658" y="44"/>
                    </a:cubicBezTo>
                    <a:lnTo>
                      <a:pt x="26195" y="0"/>
                    </a:lnTo>
                    <a:lnTo>
                      <a:pt x="611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374892" y="34737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アプリのフォルダ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75654" y="3737610"/>
                <a:ext cx="340309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処理ログ（場所は settings.json の paths.log）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帳票出力の CSV（既定は output フォルダ）</a:t>
                </a:r>
              </a:p>
            </p:txBody>
          </p:sp>
        </p:grpSp>
        <p:grpSp>
          <p:nvGrpSpPr>
            <p:cNvPr id="38" name="files-this-pc"/>
            <p:cNvGrpSpPr/>
            <p:nvPr/>
          </p:nvGrpSpPr>
          <p:grpSpPr>
            <a:xfrm>
              <a:off x="6113463" y="4350068"/>
              <a:ext cx="4744709" cy="727138"/>
              <a:chOff x="6113463" y="4350068"/>
              <a:chExt cx="4744709" cy="72713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113463" y="4350544"/>
                <a:ext cx="174625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57163">
                    <a:moveTo>
                      <a:pt x="43656" y="157163"/>
                    </a:moveTo>
                    <a:cubicBezTo>
                      <a:pt x="38834" y="157163"/>
                      <a:pt x="34925" y="153253"/>
                      <a:pt x="34925" y="148431"/>
                    </a:cubicBezTo>
                    <a:cubicBezTo>
                      <a:pt x="34925" y="143609"/>
                      <a:pt x="38834" y="139700"/>
                      <a:pt x="43656" y="139700"/>
                    </a:cubicBezTo>
                    <a:lnTo>
                      <a:pt x="52388" y="139700"/>
                    </a:lnTo>
                    <a:lnTo>
                      <a:pt x="52388" y="122238"/>
                    </a:lnTo>
                    <a:lnTo>
                      <a:pt x="17463" y="122238"/>
                    </a:lnTo>
                    <a:cubicBezTo>
                      <a:pt x="7818" y="122238"/>
                      <a:pt x="0" y="114419"/>
                      <a:pt x="0" y="104775"/>
                    </a:cubicBezTo>
                    <a:lnTo>
                      <a:pt x="0" y="17463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157163" y="0"/>
                    </a:lnTo>
                    <a:cubicBezTo>
                      <a:pt x="166807" y="0"/>
                      <a:pt x="174625" y="7818"/>
                      <a:pt x="174625" y="17463"/>
                    </a:cubicBezTo>
                    <a:lnTo>
                      <a:pt x="174625" y="104775"/>
                    </a:lnTo>
                    <a:cubicBezTo>
                      <a:pt x="174625" y="114419"/>
                      <a:pt x="166807" y="122238"/>
                      <a:pt x="157163" y="122238"/>
                    </a:cubicBezTo>
                    <a:lnTo>
                      <a:pt x="122238" y="122238"/>
                    </a:lnTo>
                    <a:lnTo>
                      <a:pt x="122238" y="139700"/>
                    </a:lnTo>
                    <a:lnTo>
                      <a:pt x="130969" y="139700"/>
                    </a:lnTo>
                    <a:cubicBezTo>
                      <a:pt x="135791" y="139700"/>
                      <a:pt x="139700" y="143609"/>
                      <a:pt x="139700" y="148431"/>
                    </a:cubicBezTo>
                    <a:cubicBezTo>
                      <a:pt x="139700" y="153253"/>
                      <a:pt x="135791" y="157163"/>
                      <a:pt x="130969" y="157163"/>
                    </a:cubicBezTo>
                    <a:close/>
                    <a:moveTo>
                      <a:pt x="104775" y="122238"/>
                    </a:moveTo>
                    <a:lnTo>
                      <a:pt x="69850" y="122238"/>
                    </a:lnTo>
                    <a:lnTo>
                      <a:pt x="69850" y="139700"/>
                    </a:lnTo>
                    <a:lnTo>
                      <a:pt x="104775" y="1397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374892" y="4350068"/>
                <a:ext cx="44832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この PC（%LOCALAPPDATA%\ReaderDataViewer）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75654" y="4613910"/>
                <a:ext cx="317449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未送信の控え pending-&lt;台帳のハッシュ&gt;.dat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問い合わせ用のログ logs\feedback.log</a:t>
                </a:r>
              </a:p>
            </p:txBody>
          </p:sp>
        </p:grpSp>
      </p:grpSp>
      <p:grpSp>
        <p:nvGrpSpPr>
          <p:cNvPr id="44" name="inputs-note"/>
          <p:cNvGrpSpPr/>
          <p:nvPr/>
        </p:nvGrpSpPr>
        <p:grpSpPr>
          <a:xfrm>
            <a:off x="609600" y="5295900"/>
            <a:ext cx="10972800" cy="742950"/>
            <a:chOff x="609600" y="5295900"/>
            <a:chExt cx="10972800" cy="742950"/>
          </a:xfrm>
        </p:grpSpPr>
        <p:sp>
          <p:nvSpPr>
            <p:cNvPr id="40" name="Rectangle 40"/>
            <p:cNvSpPr/>
            <p:nvPr/>
          </p:nvSpPr>
          <p:spPr>
            <a:xfrm>
              <a:off x="609600" y="5295900"/>
              <a:ext cx="10972800" cy="742950"/>
            </a:xfrm>
            <a:prstGeom prst="roundRect">
              <a:avLst>
                <a:gd name="adj" fmla="val 153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" y="529590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9442" y="5454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入力ファイルは読むだけです。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9442" y="5740718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台帳は起動時の確認か［データ更新］で作り、書き換えます。帳票出力は入力・台帳・設定へは書き出せません。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このアプリがすること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主画面の見方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写真は同梱サンプルの主画面です。見出しと項目は設定で決まります。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3" name="main-shot"/>
          <p:cNvGrpSpPr/>
          <p:nvPr/>
        </p:nvGrpSpPr>
        <p:grpSpPr>
          <a:xfrm>
            <a:off x="609600" y="1790700"/>
            <a:ext cx="5029200" cy="4371975"/>
            <a:chOff x="609600" y="1790700"/>
            <a:chExt cx="5029200" cy="4371975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5029200" cy="4371975"/>
            </a:xfrm>
            <a:prstGeom prst="roundRect">
              <a:avLst>
                <a:gd name="adj" fmla="val 2614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943100"/>
              <a:ext cx="4724400" cy="4069080"/>
            </a:xfrm>
            <a:prstGeom prst="rect">
              <a:avLst/>
            </a:prstGeom>
          </p:spPr>
        </p:pic>
        <p:grpSp>
          <p:nvGrpSpPr>
            <p:cNvPr id="15" name="main-shot-markers"/>
            <p:cNvGrpSpPr/>
            <p:nvPr/>
          </p:nvGrpSpPr>
          <p:grpSpPr>
            <a:xfrm>
              <a:off x="1038225" y="1905000"/>
              <a:ext cx="1895475" cy="4162425"/>
              <a:chOff x="1038225" y="1905000"/>
              <a:chExt cx="1895475" cy="416242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038225" y="1905000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247775" y="2457450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43000" y="5210175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2724150" y="5495925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219200" y="5695950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638425" y="5857875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rgbClr val="FFFFFF"/>
                </a:solidFill>
              </a:ln>
            </p:spPr>
          </p:sp>
        </p:grpSp>
        <p:grpSp>
          <p:nvGrpSpPr>
            <p:cNvPr id="22" name="main-shot-marker-numbers"/>
            <p:cNvGrpSpPr/>
            <p:nvPr/>
          </p:nvGrpSpPr>
          <p:grpSpPr>
            <a:xfrm>
              <a:off x="1096851" y="1944052"/>
              <a:ext cx="1778223" cy="4158235"/>
              <a:chOff x="1096851" y="1944052"/>
              <a:chExt cx="1778223" cy="415823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096851" y="19440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06401" y="24965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01626" y="52492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782776" y="55349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77826" y="57350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97051" y="58969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</p:grpSp>
      </p:grpSp>
      <p:grpSp>
        <p:nvGrpSpPr>
          <p:cNvPr id="54" name="legend"/>
          <p:cNvGrpSpPr/>
          <p:nvPr/>
        </p:nvGrpSpPr>
        <p:grpSpPr>
          <a:xfrm>
            <a:off x="6048375" y="1876425"/>
            <a:ext cx="4560951" cy="3905631"/>
            <a:chOff x="6048375" y="1876425"/>
            <a:chExt cx="4560951" cy="3905631"/>
          </a:xfrm>
        </p:grpSpPr>
        <p:grpSp>
          <p:nvGrpSpPr>
            <p:cNvPr id="28" name="legend-search"/>
            <p:cNvGrpSpPr/>
            <p:nvPr/>
          </p:nvGrpSpPr>
          <p:grpSpPr>
            <a:xfrm>
              <a:off x="6048375" y="1876425"/>
              <a:ext cx="4035171" cy="724281"/>
              <a:chOff x="6048375" y="1876425"/>
              <a:chExt cx="4035171" cy="724281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048375" y="18764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126051" y="1934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12992" y="19116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検索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13754" y="2156460"/>
                <a:ext cx="36697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読取値（大きく表示）・入力欄・［検索］［クリア］</a:t>
                </a:r>
                <a:br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状態ボタン（未処理 / 処理済）</a:t>
                </a:r>
              </a:p>
            </p:txBody>
          </p:sp>
        </p:grpSp>
        <p:grpSp>
          <p:nvGrpSpPr>
            <p:cNvPr id="33" name="legend-fields"/>
            <p:cNvGrpSpPr/>
            <p:nvPr/>
          </p:nvGrpSpPr>
          <p:grpSpPr>
            <a:xfrm>
              <a:off x="6048375" y="2638425"/>
              <a:ext cx="3273171" cy="724281"/>
              <a:chOff x="6048375" y="2638425"/>
              <a:chExt cx="3273171" cy="724281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048375" y="26384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126051" y="2696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12992" y="26736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表示欄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13754" y="2918460"/>
                <a:ext cx="29077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見つかった 1 件の項目</a:t>
                </a:r>
                <a:br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利用者情報・申請情報・備考欄・変更内容</a:t>
                </a:r>
              </a:p>
            </p:txBody>
          </p:sp>
        </p:grpSp>
        <p:grpSp>
          <p:nvGrpSpPr>
            <p:cNvPr id="38" name="legend-judgment"/>
            <p:cNvGrpSpPr/>
            <p:nvPr/>
          </p:nvGrpSpPr>
          <p:grpSpPr>
            <a:xfrm>
              <a:off x="6048375" y="3400425"/>
              <a:ext cx="3769995" cy="514731"/>
              <a:chOff x="6048375" y="3400425"/>
              <a:chExt cx="3769995" cy="514731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048375" y="34004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126051" y="3458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12992" y="3435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判定の帯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13754" y="368046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設定した判定の結果。写真は決済状況の「済」</a:t>
                </a:r>
              </a:p>
            </p:txBody>
          </p:sp>
        </p:grpSp>
        <p:grpSp>
          <p:nvGrpSpPr>
            <p:cNvPr id="43" name="legend-buttons"/>
            <p:cNvGrpSpPr/>
            <p:nvPr/>
          </p:nvGrpSpPr>
          <p:grpSpPr>
            <a:xfrm>
              <a:off x="6048375" y="3952875"/>
              <a:ext cx="4416171" cy="514731"/>
              <a:chOff x="6048375" y="3952875"/>
              <a:chExt cx="4416171" cy="514731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6048375" y="395287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126051" y="40109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12992" y="39881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操作ボタン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13754" y="4232910"/>
                <a:ext cx="40507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台帳再読込・帳票出力・データ更新・データ削除・設定</a:t>
                </a:r>
              </a:p>
            </p:txBody>
          </p:sp>
        </p:grpSp>
        <p:grpSp>
          <p:nvGrpSpPr>
            <p:cNvPr id="48" name="legend-sendbar"/>
            <p:cNvGrpSpPr/>
            <p:nvPr/>
          </p:nvGrpSpPr>
          <p:grpSpPr>
            <a:xfrm>
              <a:off x="6048375" y="4505325"/>
              <a:ext cx="3898621" cy="514731"/>
              <a:chOff x="6048375" y="4505325"/>
              <a:chExt cx="3898621" cy="514731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6048375" y="45053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126051" y="4563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12992" y="45405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送信帯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413754" y="4785360"/>
                <a:ext cx="35332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この PC の未送信件数と［変更をまとめて送信］</a:t>
                </a:r>
              </a:p>
            </p:txBody>
          </p:sp>
        </p:grpSp>
        <p:grpSp>
          <p:nvGrpSpPr>
            <p:cNvPr id="53" name="legend-statusbar"/>
            <p:cNvGrpSpPr/>
            <p:nvPr/>
          </p:nvGrpSpPr>
          <p:grpSpPr>
            <a:xfrm>
              <a:off x="6048375" y="5057775"/>
              <a:ext cx="4560951" cy="724281"/>
              <a:chOff x="6048375" y="5057775"/>
              <a:chExt cx="4560951" cy="724281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6048375" y="505777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126051" y="51158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412992" y="50930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状態欄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413754" y="5337810"/>
                <a:ext cx="419557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アプリの状況・台帳件数・時計</a:t>
                </a:r>
                <a:br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写真の状況「タイトルなし - メモ帳 を待機中」は監視の待ち</a:t>
                </a:r>
              </a:p>
            </p:txBody>
          </p:sp>
        </p:grpSp>
      </p:grpSp>
      <p:grpSp>
        <p:nvGrpSpPr>
          <p:cNvPr id="57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このアプリがすること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例に使う同梱サンプル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64076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つの入力ファイル（各 100 件）から、100 件の台帳を作ります。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0" name="input-files"/>
          <p:cNvGrpSpPr/>
          <p:nvPr/>
        </p:nvGrpSpPr>
        <p:grpSpPr>
          <a:xfrm>
            <a:off x="609600" y="1866900"/>
            <a:ext cx="4953000" cy="3695700"/>
            <a:chOff x="609600" y="1866900"/>
            <a:chExt cx="4953000" cy="3695700"/>
          </a:xfrm>
        </p:grpSpPr>
        <p:grpSp>
          <p:nvGrpSpPr>
            <p:cNvPr id="16" name="file-map"/>
            <p:cNvGrpSpPr/>
            <p:nvPr/>
          </p:nvGrpSpPr>
          <p:grpSpPr>
            <a:xfrm>
              <a:off x="609600" y="1866900"/>
              <a:ext cx="4953000" cy="838200"/>
              <a:chOff x="609600" y="1866900"/>
              <a:chExt cx="4953000" cy="8382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09600" y="1866900"/>
                <a:ext cx="4953000" cy="838200"/>
              </a:xfrm>
              <a:prstGeom prst="roundRect">
                <a:avLst>
                  <a:gd name="adj" fmla="val 1363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838199" y="2057400"/>
                <a:ext cx="152402" cy="190501"/>
                <a:chOff x="838199" y="2057400"/>
                <a:chExt cx="152402" cy="19050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38199" y="2057400"/>
                  <a:ext cx="152402" cy="19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2" h="190501">
                      <a:moveTo>
                        <a:pt x="76201" y="0"/>
                      </a:moveTo>
                      <a:lnTo>
                        <a:pt x="77315" y="67"/>
                      </a:lnTo>
                      <a:cubicBezTo>
                        <a:pt x="81692" y="583"/>
                        <a:pt x="85143" y="4034"/>
                        <a:pt x="85659" y="8411"/>
                      </a:cubicBezTo>
                      <a:lnTo>
                        <a:pt x="85726" y="9525"/>
                      </a:lnTo>
                      <a:lnTo>
                        <a:pt x="85726" y="47625"/>
                      </a:lnTo>
                      <a:lnTo>
                        <a:pt x="85773" y="49054"/>
                      </a:lnTo>
                      <a:cubicBezTo>
                        <a:pt x="86478" y="58425"/>
                        <a:pt x="93911" y="65883"/>
                        <a:pt x="103280" y="66618"/>
                      </a:cubicBezTo>
                      <a:lnTo>
                        <a:pt x="104776" y="66675"/>
                      </a:lnTo>
                      <a:lnTo>
                        <a:pt x="142876" y="66675"/>
                      </a:lnTo>
                      <a:lnTo>
                        <a:pt x="143990" y="66742"/>
                      </a:lnTo>
                      <a:cubicBezTo>
                        <a:pt x="148367" y="67258"/>
                        <a:pt x="151818" y="70709"/>
                        <a:pt x="152334" y="75086"/>
                      </a:cubicBezTo>
                      <a:lnTo>
                        <a:pt x="152401" y="76200"/>
                      </a:lnTo>
                      <a:lnTo>
                        <a:pt x="152401" y="161925"/>
                      </a:lnTo>
                      <a:cubicBezTo>
                        <a:pt x="152402" y="177056"/>
                        <a:pt x="140607" y="189565"/>
                        <a:pt x="125502" y="190452"/>
                      </a:cubicBezTo>
                      <a:lnTo>
                        <a:pt x="123826" y="190500"/>
                      </a:lnTo>
                      <a:lnTo>
                        <a:pt x="28576" y="190500"/>
                      </a:lnTo>
                      <a:cubicBezTo>
                        <a:pt x="13445" y="190501"/>
                        <a:pt x="936" y="178706"/>
                        <a:pt x="48" y="163601"/>
                      </a:cubicBezTo>
                      <a:lnTo>
                        <a:pt x="1" y="161925"/>
                      </a:lnTo>
                      <a:lnTo>
                        <a:pt x="1" y="28575"/>
                      </a:lnTo>
                      <a:cubicBezTo>
                        <a:pt x="0" y="13444"/>
                        <a:pt x="11794" y="935"/>
                        <a:pt x="26899" y="48"/>
                      </a:cubicBezTo>
                      <a:lnTo>
                        <a:pt x="28576" y="0"/>
                      </a:lnTo>
                      <a:close/>
                      <a:moveTo>
                        <a:pt x="104776" y="133350"/>
                      </a:moveTo>
                      <a:lnTo>
                        <a:pt x="47626" y="133350"/>
                      </a:lnTo>
                      <a:cubicBezTo>
                        <a:pt x="42365" y="133350"/>
                        <a:pt x="38101" y="137614"/>
                        <a:pt x="38101" y="142875"/>
                      </a:cubicBezTo>
                      <a:cubicBezTo>
                        <a:pt x="38101" y="148136"/>
                        <a:pt x="42365" y="152400"/>
                        <a:pt x="47626" y="152400"/>
                      </a:cubicBezTo>
                      <a:lnTo>
                        <a:pt x="104776" y="152400"/>
                      </a:lnTo>
                      <a:cubicBezTo>
                        <a:pt x="110036" y="152400"/>
                        <a:pt x="114301" y="148136"/>
                        <a:pt x="114301" y="142875"/>
                      </a:cubicBezTo>
                      <a:cubicBezTo>
                        <a:pt x="114301" y="137614"/>
                        <a:pt x="110036" y="133350"/>
                        <a:pt x="104776" y="133350"/>
                      </a:cubicBezTo>
                      <a:moveTo>
                        <a:pt x="104776" y="95250"/>
                      </a:moveTo>
                      <a:lnTo>
                        <a:pt x="47626" y="95250"/>
                      </a:lnTo>
                      <a:cubicBezTo>
                        <a:pt x="42365" y="95250"/>
                        <a:pt x="38101" y="99514"/>
                        <a:pt x="38101" y="104775"/>
                      </a:cubicBezTo>
                      <a:cubicBezTo>
                        <a:pt x="38101" y="110036"/>
                        <a:pt x="42365" y="114300"/>
                        <a:pt x="47626" y="114300"/>
                      </a:cubicBezTo>
                      <a:lnTo>
                        <a:pt x="104776" y="114300"/>
                      </a:lnTo>
                      <a:cubicBezTo>
                        <a:pt x="110036" y="114300"/>
                        <a:pt x="114301" y="110036"/>
                        <a:pt x="114301" y="104775"/>
                      </a:cubicBezTo>
                      <a:cubicBezTo>
                        <a:pt x="114301" y="99514"/>
                        <a:pt x="110036" y="95250"/>
                        <a:pt x="104776" y="95250"/>
                      </a:cubicBezTo>
                      <a:moveTo>
                        <a:pt x="57151" y="57150"/>
                      </a:moveTo>
                      <a:lnTo>
                        <a:pt x="47626" y="57150"/>
                      </a:lnTo>
                      <a:cubicBezTo>
                        <a:pt x="42365" y="57150"/>
                        <a:pt x="38101" y="61414"/>
                        <a:pt x="38101" y="66675"/>
                      </a:cubicBezTo>
                      <a:cubicBezTo>
                        <a:pt x="38101" y="71936"/>
                        <a:pt x="42365" y="76200"/>
                        <a:pt x="47626" y="76200"/>
                      </a:cubicBezTo>
                      <a:lnTo>
                        <a:pt x="57151" y="76200"/>
                      </a:lnTo>
                      <a:cubicBezTo>
                        <a:pt x="62411" y="76200"/>
                        <a:pt x="66676" y="71936"/>
                        <a:pt x="66676" y="66675"/>
                      </a:cubicBezTo>
                      <a:cubicBezTo>
                        <a:pt x="66676" y="61414"/>
                        <a:pt x="62411" y="57150"/>
                        <a:pt x="57151" y="5715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42965" y="2066915"/>
                  <a:ext cx="38110" cy="3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10" h="38110">
                      <a:moveTo>
                        <a:pt x="38110" y="38110"/>
                      </a:moveTo>
                      <a:lnTo>
                        <a:pt x="10" y="381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98042" y="2064068"/>
                <a:ext cx="20487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①取引データ_100件.csv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76450" y="2088356"/>
                <a:ext cx="7013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Shift_JIS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8804" y="2366010"/>
                <a:ext cx="30059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取引 ID と、その取引の状態（完了など）</a:t>
                </a:r>
              </a:p>
            </p:txBody>
          </p:sp>
        </p:grpSp>
        <p:grpSp>
          <p:nvGrpSpPr>
            <p:cNvPr id="24" name="file-pay"/>
            <p:cNvGrpSpPr/>
            <p:nvPr/>
          </p:nvGrpSpPr>
          <p:grpSpPr>
            <a:xfrm>
              <a:off x="609600" y="2819400"/>
              <a:ext cx="4953000" cy="838200"/>
              <a:chOff x="609600" y="2819400"/>
              <a:chExt cx="4953000" cy="8382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" y="2819400"/>
                <a:ext cx="4953000" cy="838200"/>
              </a:xfrm>
              <a:prstGeom prst="roundRect">
                <a:avLst>
                  <a:gd name="adj" fmla="val 1363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838199" y="3009900"/>
                <a:ext cx="152402" cy="190501"/>
                <a:chOff x="838199" y="3009900"/>
                <a:chExt cx="152402" cy="19050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838199" y="3009900"/>
                  <a:ext cx="152402" cy="19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2" h="190501">
                      <a:moveTo>
                        <a:pt x="76201" y="0"/>
                      </a:moveTo>
                      <a:lnTo>
                        <a:pt x="77315" y="67"/>
                      </a:lnTo>
                      <a:cubicBezTo>
                        <a:pt x="81692" y="583"/>
                        <a:pt x="85143" y="4034"/>
                        <a:pt x="85659" y="8411"/>
                      </a:cubicBezTo>
                      <a:lnTo>
                        <a:pt x="85726" y="9525"/>
                      </a:lnTo>
                      <a:lnTo>
                        <a:pt x="85726" y="47625"/>
                      </a:lnTo>
                      <a:lnTo>
                        <a:pt x="85773" y="49054"/>
                      </a:lnTo>
                      <a:cubicBezTo>
                        <a:pt x="86478" y="58425"/>
                        <a:pt x="93911" y="65883"/>
                        <a:pt x="103280" y="66618"/>
                      </a:cubicBezTo>
                      <a:lnTo>
                        <a:pt x="104776" y="66675"/>
                      </a:lnTo>
                      <a:lnTo>
                        <a:pt x="142876" y="66675"/>
                      </a:lnTo>
                      <a:lnTo>
                        <a:pt x="143990" y="66742"/>
                      </a:lnTo>
                      <a:cubicBezTo>
                        <a:pt x="148367" y="67258"/>
                        <a:pt x="151818" y="70709"/>
                        <a:pt x="152334" y="75086"/>
                      </a:cubicBezTo>
                      <a:lnTo>
                        <a:pt x="152401" y="76200"/>
                      </a:lnTo>
                      <a:lnTo>
                        <a:pt x="152401" y="161925"/>
                      </a:lnTo>
                      <a:cubicBezTo>
                        <a:pt x="152402" y="177056"/>
                        <a:pt x="140607" y="189565"/>
                        <a:pt x="125502" y="190452"/>
                      </a:cubicBezTo>
                      <a:lnTo>
                        <a:pt x="123826" y="190500"/>
                      </a:lnTo>
                      <a:lnTo>
                        <a:pt x="28576" y="190500"/>
                      </a:lnTo>
                      <a:cubicBezTo>
                        <a:pt x="13445" y="190501"/>
                        <a:pt x="936" y="178706"/>
                        <a:pt x="48" y="163601"/>
                      </a:cubicBezTo>
                      <a:lnTo>
                        <a:pt x="1" y="161925"/>
                      </a:lnTo>
                      <a:lnTo>
                        <a:pt x="1" y="28575"/>
                      </a:lnTo>
                      <a:cubicBezTo>
                        <a:pt x="0" y="13444"/>
                        <a:pt x="11794" y="935"/>
                        <a:pt x="26899" y="48"/>
                      </a:cubicBezTo>
                      <a:lnTo>
                        <a:pt x="28576" y="0"/>
                      </a:lnTo>
                      <a:close/>
                      <a:moveTo>
                        <a:pt x="104776" y="133350"/>
                      </a:moveTo>
                      <a:lnTo>
                        <a:pt x="47626" y="133350"/>
                      </a:lnTo>
                      <a:cubicBezTo>
                        <a:pt x="42365" y="133350"/>
                        <a:pt x="38101" y="137614"/>
                        <a:pt x="38101" y="142875"/>
                      </a:cubicBezTo>
                      <a:cubicBezTo>
                        <a:pt x="38101" y="148136"/>
                        <a:pt x="42365" y="152400"/>
                        <a:pt x="47626" y="152400"/>
                      </a:cubicBezTo>
                      <a:lnTo>
                        <a:pt x="104776" y="152400"/>
                      </a:lnTo>
                      <a:cubicBezTo>
                        <a:pt x="110036" y="152400"/>
                        <a:pt x="114301" y="148136"/>
                        <a:pt x="114301" y="142875"/>
                      </a:cubicBezTo>
                      <a:cubicBezTo>
                        <a:pt x="114301" y="137614"/>
                        <a:pt x="110036" y="133350"/>
                        <a:pt x="104776" y="133350"/>
                      </a:cubicBezTo>
                      <a:moveTo>
                        <a:pt x="104776" y="95250"/>
                      </a:moveTo>
                      <a:lnTo>
                        <a:pt x="47626" y="95250"/>
                      </a:lnTo>
                      <a:cubicBezTo>
                        <a:pt x="42365" y="95250"/>
                        <a:pt x="38101" y="99514"/>
                        <a:pt x="38101" y="104775"/>
                      </a:cubicBezTo>
                      <a:cubicBezTo>
                        <a:pt x="38101" y="110036"/>
                        <a:pt x="42365" y="114300"/>
                        <a:pt x="47626" y="114300"/>
                      </a:cubicBezTo>
                      <a:lnTo>
                        <a:pt x="104776" y="114300"/>
                      </a:lnTo>
                      <a:cubicBezTo>
                        <a:pt x="110036" y="114300"/>
                        <a:pt x="114301" y="110036"/>
                        <a:pt x="114301" y="104775"/>
                      </a:cubicBezTo>
                      <a:cubicBezTo>
                        <a:pt x="114301" y="99514"/>
                        <a:pt x="110036" y="95250"/>
                        <a:pt x="104776" y="95250"/>
                      </a:cubicBezTo>
                      <a:moveTo>
                        <a:pt x="57151" y="57150"/>
                      </a:moveTo>
                      <a:lnTo>
                        <a:pt x="47626" y="57150"/>
                      </a:lnTo>
                      <a:cubicBezTo>
                        <a:pt x="42365" y="57150"/>
                        <a:pt x="38101" y="61414"/>
                        <a:pt x="38101" y="66675"/>
                      </a:cubicBezTo>
                      <a:cubicBezTo>
                        <a:pt x="38101" y="71936"/>
                        <a:pt x="42365" y="76200"/>
                        <a:pt x="47626" y="76200"/>
                      </a:cubicBezTo>
                      <a:lnTo>
                        <a:pt x="57151" y="76200"/>
                      </a:lnTo>
                      <a:cubicBezTo>
                        <a:pt x="62411" y="76200"/>
                        <a:pt x="66676" y="71936"/>
                        <a:pt x="66676" y="66675"/>
                      </a:cubicBezTo>
                      <a:cubicBezTo>
                        <a:pt x="66676" y="61414"/>
                        <a:pt x="62411" y="57150"/>
                        <a:pt x="57151" y="5715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42965" y="3019415"/>
                  <a:ext cx="38110" cy="3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10" h="38110">
                      <a:moveTo>
                        <a:pt x="38110" y="38110"/>
                      </a:moveTo>
                      <a:lnTo>
                        <a:pt x="10" y="381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098042" y="3016568"/>
                <a:ext cx="2412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②決済管理データ_100件.csv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76450" y="3040856"/>
                <a:ext cx="7013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Shift_JIS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98804" y="3318510"/>
                <a:ext cx="39239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オーダー ID・利用者・決済ステータス（決済済など）</a:t>
                </a:r>
              </a:p>
            </p:txBody>
          </p:sp>
        </p:grpSp>
        <p:grpSp>
          <p:nvGrpSpPr>
            <p:cNvPr id="31" name="file-app"/>
            <p:cNvGrpSpPr/>
            <p:nvPr/>
          </p:nvGrpSpPr>
          <p:grpSpPr>
            <a:xfrm>
              <a:off x="609600" y="3771900"/>
              <a:ext cx="4953000" cy="838200"/>
              <a:chOff x="609600" y="3771900"/>
              <a:chExt cx="4953000" cy="8382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09600" y="3771900"/>
                <a:ext cx="4953000" cy="838200"/>
              </a:xfrm>
              <a:prstGeom prst="roundRect">
                <a:avLst>
                  <a:gd name="adj" fmla="val 1363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838199" y="3962400"/>
                <a:ext cx="152402" cy="190501"/>
                <a:chOff x="838199" y="3962400"/>
                <a:chExt cx="152402" cy="190501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38199" y="3962400"/>
                  <a:ext cx="152402" cy="19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2" h="190501">
                      <a:moveTo>
                        <a:pt x="76201" y="0"/>
                      </a:moveTo>
                      <a:lnTo>
                        <a:pt x="77315" y="67"/>
                      </a:lnTo>
                      <a:cubicBezTo>
                        <a:pt x="81692" y="583"/>
                        <a:pt x="85143" y="4034"/>
                        <a:pt x="85659" y="8411"/>
                      </a:cubicBezTo>
                      <a:lnTo>
                        <a:pt x="85726" y="9525"/>
                      </a:lnTo>
                      <a:lnTo>
                        <a:pt x="85726" y="47625"/>
                      </a:lnTo>
                      <a:lnTo>
                        <a:pt x="85773" y="49054"/>
                      </a:lnTo>
                      <a:cubicBezTo>
                        <a:pt x="86478" y="58425"/>
                        <a:pt x="93911" y="65883"/>
                        <a:pt x="103280" y="66618"/>
                      </a:cubicBezTo>
                      <a:lnTo>
                        <a:pt x="104776" y="66675"/>
                      </a:lnTo>
                      <a:lnTo>
                        <a:pt x="142876" y="66675"/>
                      </a:lnTo>
                      <a:lnTo>
                        <a:pt x="143990" y="66742"/>
                      </a:lnTo>
                      <a:cubicBezTo>
                        <a:pt x="148367" y="67258"/>
                        <a:pt x="151818" y="70709"/>
                        <a:pt x="152334" y="75086"/>
                      </a:cubicBezTo>
                      <a:lnTo>
                        <a:pt x="152401" y="76200"/>
                      </a:lnTo>
                      <a:lnTo>
                        <a:pt x="152401" y="161925"/>
                      </a:lnTo>
                      <a:cubicBezTo>
                        <a:pt x="152402" y="177056"/>
                        <a:pt x="140607" y="189565"/>
                        <a:pt x="125502" y="190452"/>
                      </a:cubicBezTo>
                      <a:lnTo>
                        <a:pt x="123826" y="190500"/>
                      </a:lnTo>
                      <a:lnTo>
                        <a:pt x="28576" y="190500"/>
                      </a:lnTo>
                      <a:cubicBezTo>
                        <a:pt x="13445" y="190501"/>
                        <a:pt x="936" y="178706"/>
                        <a:pt x="48" y="163601"/>
                      </a:cubicBezTo>
                      <a:lnTo>
                        <a:pt x="1" y="161925"/>
                      </a:lnTo>
                      <a:lnTo>
                        <a:pt x="1" y="28575"/>
                      </a:lnTo>
                      <a:cubicBezTo>
                        <a:pt x="0" y="13444"/>
                        <a:pt x="11794" y="935"/>
                        <a:pt x="26899" y="48"/>
                      </a:cubicBezTo>
                      <a:lnTo>
                        <a:pt x="28576" y="0"/>
                      </a:lnTo>
                      <a:close/>
                      <a:moveTo>
                        <a:pt x="104776" y="133350"/>
                      </a:moveTo>
                      <a:lnTo>
                        <a:pt x="47626" y="133350"/>
                      </a:lnTo>
                      <a:cubicBezTo>
                        <a:pt x="42365" y="133350"/>
                        <a:pt x="38101" y="137614"/>
                        <a:pt x="38101" y="142875"/>
                      </a:cubicBezTo>
                      <a:cubicBezTo>
                        <a:pt x="38101" y="148136"/>
                        <a:pt x="42365" y="152400"/>
                        <a:pt x="47626" y="152400"/>
                      </a:cubicBezTo>
                      <a:lnTo>
                        <a:pt x="104776" y="152400"/>
                      </a:lnTo>
                      <a:cubicBezTo>
                        <a:pt x="110036" y="152400"/>
                        <a:pt x="114301" y="148136"/>
                        <a:pt x="114301" y="142875"/>
                      </a:cubicBezTo>
                      <a:cubicBezTo>
                        <a:pt x="114301" y="137614"/>
                        <a:pt x="110036" y="133350"/>
                        <a:pt x="104776" y="133350"/>
                      </a:cubicBezTo>
                      <a:moveTo>
                        <a:pt x="104776" y="95250"/>
                      </a:moveTo>
                      <a:lnTo>
                        <a:pt x="47626" y="95250"/>
                      </a:lnTo>
                      <a:cubicBezTo>
                        <a:pt x="42365" y="95250"/>
                        <a:pt x="38101" y="99514"/>
                        <a:pt x="38101" y="104775"/>
                      </a:cubicBezTo>
                      <a:cubicBezTo>
                        <a:pt x="38101" y="110036"/>
                        <a:pt x="42365" y="114300"/>
                        <a:pt x="47626" y="114300"/>
                      </a:cubicBezTo>
                      <a:lnTo>
                        <a:pt x="104776" y="114300"/>
                      </a:lnTo>
                      <a:cubicBezTo>
                        <a:pt x="110036" y="114300"/>
                        <a:pt x="114301" y="110036"/>
                        <a:pt x="114301" y="104775"/>
                      </a:cubicBezTo>
                      <a:cubicBezTo>
                        <a:pt x="114301" y="99514"/>
                        <a:pt x="110036" y="95250"/>
                        <a:pt x="104776" y="95250"/>
                      </a:cubicBezTo>
                      <a:moveTo>
                        <a:pt x="57151" y="57150"/>
                      </a:moveTo>
                      <a:lnTo>
                        <a:pt x="47626" y="57150"/>
                      </a:lnTo>
                      <a:cubicBezTo>
                        <a:pt x="42365" y="57150"/>
                        <a:pt x="38101" y="61414"/>
                        <a:pt x="38101" y="66675"/>
                      </a:cubicBezTo>
                      <a:cubicBezTo>
                        <a:pt x="38101" y="71936"/>
                        <a:pt x="42365" y="76200"/>
                        <a:pt x="47626" y="76200"/>
                      </a:cubicBezTo>
                      <a:lnTo>
                        <a:pt x="57151" y="76200"/>
                      </a:lnTo>
                      <a:cubicBezTo>
                        <a:pt x="62411" y="76200"/>
                        <a:pt x="66676" y="71936"/>
                        <a:pt x="66676" y="66675"/>
                      </a:cubicBezTo>
                      <a:cubicBezTo>
                        <a:pt x="66676" y="61414"/>
                        <a:pt x="62411" y="57150"/>
                        <a:pt x="57151" y="5715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42965" y="3971915"/>
                  <a:ext cx="38110" cy="38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10" h="38110">
                      <a:moveTo>
                        <a:pt x="38110" y="38110"/>
                      </a:moveTo>
                      <a:lnTo>
                        <a:pt x="10" y="381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098042" y="3969068"/>
                <a:ext cx="24694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③講習受講データ_100件.xlsx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8804" y="4271010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申請番号ごとの申請日・有効期間・担当拠点など</a:t>
                </a:r>
              </a:p>
            </p:txBody>
          </p:sp>
        </p:grpSp>
        <p:grpSp>
          <p:nvGrpSpPr>
            <p:cNvPr id="39" name="file-del"/>
            <p:cNvGrpSpPr/>
            <p:nvPr/>
          </p:nvGrpSpPr>
          <p:grpSpPr>
            <a:xfrm>
              <a:off x="609600" y="4724400"/>
              <a:ext cx="4953000" cy="838200"/>
              <a:chOff x="609600" y="4724400"/>
              <a:chExt cx="4953000" cy="8382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09600" y="4724400"/>
                <a:ext cx="4953000" cy="838200"/>
              </a:xfrm>
              <a:prstGeom prst="roundRect">
                <a:avLst>
                  <a:gd name="adj" fmla="val 13636"/>
                </a:avLst>
              </a:prstGeom>
              <a:solidFill>
                <a:schemeClr val="lt1"/>
              </a:solidFill>
              <a:ln w="9525">
                <a:solidFill>
                  <a:srgbClr val="E2E7EC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28407" y="4914900"/>
                <a:ext cx="171987" cy="190500"/>
                <a:chOff x="828407" y="4914900"/>
                <a:chExt cx="171987" cy="1905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28407" y="4953000"/>
                  <a:ext cx="171987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87" h="152400">
                      <a:moveTo>
                        <a:pt x="162193" y="0"/>
                      </a:moveTo>
                      <a:cubicBezTo>
                        <a:pt x="167233" y="6"/>
                        <a:pt x="171396" y="3936"/>
                        <a:pt x="171691" y="8967"/>
                      </a:cubicBezTo>
                      <a:cubicBezTo>
                        <a:pt x="171987" y="13998"/>
                        <a:pt x="168312" y="18388"/>
                        <a:pt x="163308" y="18983"/>
                      </a:cubicBezTo>
                      <a:lnTo>
                        <a:pt x="162193" y="19050"/>
                      </a:lnTo>
                      <a:lnTo>
                        <a:pt x="161422" y="19050"/>
                      </a:lnTo>
                      <a:lnTo>
                        <a:pt x="152668" y="123825"/>
                      </a:lnTo>
                      <a:cubicBezTo>
                        <a:pt x="152669" y="138956"/>
                        <a:pt x="140875" y="151465"/>
                        <a:pt x="125770" y="152352"/>
                      </a:cubicBezTo>
                      <a:lnTo>
                        <a:pt x="124093" y="152400"/>
                      </a:lnTo>
                      <a:lnTo>
                        <a:pt x="47893" y="152400"/>
                      </a:lnTo>
                      <a:cubicBezTo>
                        <a:pt x="32672" y="152400"/>
                        <a:pt x="20233" y="140503"/>
                        <a:pt x="19395" y="126206"/>
                      </a:cubicBezTo>
                      <a:lnTo>
                        <a:pt x="19347" y="124616"/>
                      </a:lnTo>
                      <a:lnTo>
                        <a:pt x="10555" y="19050"/>
                      </a:lnTo>
                      <a:lnTo>
                        <a:pt x="9793" y="19050"/>
                      </a:lnTo>
                      <a:cubicBezTo>
                        <a:pt x="4754" y="19044"/>
                        <a:pt x="591" y="15114"/>
                        <a:pt x="295" y="10083"/>
                      </a:cubicBezTo>
                      <a:cubicBezTo>
                        <a:pt x="0" y="5052"/>
                        <a:pt x="3675" y="662"/>
                        <a:pt x="8679" y="67"/>
                      </a:cubicBezTo>
                      <a:lnTo>
                        <a:pt x="9793" y="0"/>
                      </a:lnTo>
                      <a:close/>
                      <a:moveTo>
                        <a:pt x="66943" y="38100"/>
                      </a:moveTo>
                      <a:cubicBezTo>
                        <a:pt x="61683" y="38100"/>
                        <a:pt x="57418" y="42364"/>
                        <a:pt x="57418" y="47625"/>
                      </a:cubicBezTo>
                      <a:lnTo>
                        <a:pt x="57418" y="104775"/>
                      </a:lnTo>
                      <a:cubicBezTo>
                        <a:pt x="57418" y="110036"/>
                        <a:pt x="61683" y="114300"/>
                        <a:pt x="66943" y="114300"/>
                      </a:cubicBezTo>
                      <a:cubicBezTo>
                        <a:pt x="72204" y="114300"/>
                        <a:pt x="76468" y="110036"/>
                        <a:pt x="76468" y="104775"/>
                      </a:cubicBezTo>
                      <a:lnTo>
                        <a:pt x="76468" y="47625"/>
                      </a:lnTo>
                      <a:cubicBezTo>
                        <a:pt x="76468" y="42364"/>
                        <a:pt x="72204" y="38100"/>
                        <a:pt x="66943" y="38100"/>
                      </a:cubicBezTo>
                      <a:moveTo>
                        <a:pt x="105043" y="38100"/>
                      </a:moveTo>
                      <a:cubicBezTo>
                        <a:pt x="99783" y="38100"/>
                        <a:pt x="95518" y="42364"/>
                        <a:pt x="95518" y="47625"/>
                      </a:cubicBezTo>
                      <a:lnTo>
                        <a:pt x="95518" y="104775"/>
                      </a:lnTo>
                      <a:cubicBezTo>
                        <a:pt x="95518" y="110036"/>
                        <a:pt x="99783" y="114300"/>
                        <a:pt x="105043" y="114300"/>
                      </a:cubicBezTo>
                      <a:cubicBezTo>
                        <a:pt x="110304" y="114300"/>
                        <a:pt x="114568" y="110036"/>
                        <a:pt x="114568" y="104775"/>
                      </a:cubicBezTo>
                      <a:lnTo>
                        <a:pt x="114568" y="47625"/>
                      </a:lnTo>
                      <a:cubicBezTo>
                        <a:pt x="114568" y="42364"/>
                        <a:pt x="110304" y="38100"/>
                        <a:pt x="105043" y="38100"/>
                      </a:cubicBezTo>
                    </a:path>
                  </a:pathLst>
                </a:custGeom>
                <a:solidFill>
                  <a:srgbClr val="5D6B7A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76297" y="4914900"/>
                  <a:ext cx="76203" cy="2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3" h="28843">
                      <a:moveTo>
                        <a:pt x="57153" y="0"/>
                      </a:moveTo>
                      <a:cubicBezTo>
                        <a:pt x="67674" y="0"/>
                        <a:pt x="76203" y="8529"/>
                        <a:pt x="76203" y="19050"/>
                      </a:cubicBezTo>
                      <a:cubicBezTo>
                        <a:pt x="76198" y="24090"/>
                        <a:pt x="72267" y="28253"/>
                        <a:pt x="67236" y="28548"/>
                      </a:cubicBezTo>
                      <a:cubicBezTo>
                        <a:pt x="62205" y="28843"/>
                        <a:pt x="57815" y="25169"/>
                        <a:pt x="57220" y="20164"/>
                      </a:cubicBezTo>
                      <a:lnTo>
                        <a:pt x="57153" y="19050"/>
                      </a:lnTo>
                      <a:lnTo>
                        <a:pt x="19053" y="19050"/>
                      </a:lnTo>
                      <a:lnTo>
                        <a:pt x="18986" y="20164"/>
                      </a:lnTo>
                      <a:cubicBezTo>
                        <a:pt x="18391" y="25169"/>
                        <a:pt x="14001" y="28843"/>
                        <a:pt x="8970" y="28548"/>
                      </a:cubicBezTo>
                      <a:cubicBezTo>
                        <a:pt x="3939" y="28253"/>
                        <a:pt x="9" y="24090"/>
                        <a:pt x="3" y="19050"/>
                      </a:cubicBezTo>
                      <a:cubicBezTo>
                        <a:pt x="0" y="9081"/>
                        <a:pt x="7683" y="795"/>
                        <a:pt x="17624" y="48"/>
                      </a:cubicBezTo>
                      <a:lnTo>
                        <a:pt x="19053" y="0"/>
                      </a:lnTo>
                      <a:close/>
                    </a:path>
                  </a:pathLst>
                </a:custGeom>
                <a:solidFill>
                  <a:srgbClr val="5D6B7A"/>
                </a:solidFill>
                <a:ln>
                  <a:noFill/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098042" y="4921568"/>
                <a:ext cx="24694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④処理済みデータ_100件.xlsx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994338" y="4945856"/>
                <a:ext cx="13834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ja-JP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シート「リスト_3」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98804" y="5223510"/>
                <a:ext cx="30815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削除にだけ使う。会員番号と申請番号の組</a:t>
                </a:r>
              </a:p>
            </p:txBody>
          </p:sp>
        </p:grpSp>
      </p:grpSp>
      <p:grpSp>
        <p:nvGrpSpPr>
          <p:cNvPr id="65" name="update-steps"/>
          <p:cNvGrpSpPr/>
          <p:nvPr/>
        </p:nvGrpSpPr>
        <p:grpSpPr>
          <a:xfrm>
            <a:off x="5859780" y="1876425"/>
            <a:ext cx="5722620" cy="3686175"/>
            <a:chOff x="5859780" y="1876425"/>
            <a:chExt cx="5722620" cy="3686175"/>
          </a:xfrm>
        </p:grpSpPr>
        <p:sp>
          <p:nvSpPr>
            <p:cNvPr id="41" name="TextBox 41"/>
            <p:cNvSpPr txBox="1"/>
            <p:nvPr/>
          </p:nvSpPr>
          <p:spPr>
            <a:xfrm>
              <a:off x="5859780" y="18764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サンプルの設定がする処理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0" y="24003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47" name="step-join"/>
            <p:cNvGrpSpPr/>
            <p:nvPr/>
          </p:nvGrpSpPr>
          <p:grpSpPr>
            <a:xfrm>
              <a:off x="5953125" y="2257425"/>
              <a:ext cx="3603313" cy="533781"/>
              <a:chOff x="5953125" y="2257425"/>
              <a:chExt cx="3603313" cy="533781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5953125" y="22574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043258" y="23279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74892" y="2311718"/>
                <a:ext cx="31815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①と②を、ID に含まれる会員番号で結合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375654" y="2556510"/>
                <a:ext cx="17891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両方にある組だけが残る</a:t>
                </a:r>
              </a:p>
            </p:txBody>
          </p:sp>
        </p:grpSp>
        <p:grpSp>
          <p:nvGrpSpPr>
            <p:cNvPr id="52" name="step-judge"/>
            <p:cNvGrpSpPr/>
            <p:nvPr/>
          </p:nvGrpSpPr>
          <p:grpSpPr>
            <a:xfrm>
              <a:off x="5953125" y="3019425"/>
              <a:ext cx="4150233" cy="533781"/>
              <a:chOff x="5953125" y="3019425"/>
              <a:chExt cx="4150233" cy="533781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5953125" y="30194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043258" y="30899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374892" y="3073718"/>
                <a:ext cx="35521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①が「完了」かつ ②が「決済済」なら「済」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375654" y="3318510"/>
                <a:ext cx="37277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片方でも違えば空欄のまま（画面では「未決済」）</a:t>
                </a:r>
              </a:p>
            </p:txBody>
          </p:sp>
        </p:grpSp>
        <p:grpSp>
          <p:nvGrpSpPr>
            <p:cNvPr id="57" name="step-left-join"/>
            <p:cNvGrpSpPr/>
            <p:nvPr/>
          </p:nvGrpSpPr>
          <p:grpSpPr>
            <a:xfrm>
              <a:off x="5953125" y="3781425"/>
              <a:ext cx="3734918" cy="533781"/>
              <a:chOff x="5953125" y="3781425"/>
              <a:chExt cx="3734918" cy="533781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5953125" y="37814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043258" y="38519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374892" y="3835718"/>
                <a:ext cx="33131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③を、②から取り出した申請番号で左結合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375654" y="4080510"/>
                <a:ext cx="12318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③が無い行も残る</a:t>
                </a:r>
              </a:p>
            </p:txBody>
          </p:sp>
        </p:grpSp>
        <p:grpSp>
          <p:nvGrpSpPr>
            <p:cNvPr id="62" name="step-merge"/>
            <p:cNvGrpSpPr/>
            <p:nvPr/>
          </p:nvGrpSpPr>
          <p:grpSpPr>
            <a:xfrm>
              <a:off x="5953125" y="4543425"/>
              <a:ext cx="4311777" cy="533781"/>
              <a:chOff x="5953125" y="4543425"/>
              <a:chExt cx="4311777" cy="53378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953125" y="45434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043258" y="46139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374892" y="4597718"/>
                <a:ext cx="25918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②のオーダー ID で台帳へマージ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375654" y="4842510"/>
                <a:ext cx="38892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新しい行は追加、ある行は更新、台帳だけの行は残す</a:t>
                </a:r>
              </a:p>
            </p:txBody>
          </p:sp>
        </p:grpSp>
        <p:sp>
          <p:nvSpPr>
            <p:cNvPr id="63" name="Rectangle 63"/>
            <p:cNvSpPr/>
            <p:nvPr/>
          </p:nvSpPr>
          <p:spPr>
            <a:xfrm>
              <a:off x="5867400" y="5143500"/>
              <a:ext cx="5715000" cy="419100"/>
            </a:xfrm>
            <a:prstGeom prst="roundRect">
              <a:avLst>
                <a:gd name="adj" fmla="val 2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89142" y="5273992"/>
              <a:ext cx="4166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結果: 台帳 100 件（済 80・未決済 20、③あり 80）</a:t>
              </a:r>
            </a:p>
          </p:txBody>
        </p:sp>
      </p:grpSp>
      <p:grpSp>
        <p:nvGrpSpPr>
          <p:cNvPr id="68" name="search-keys"/>
          <p:cNvGrpSpPr/>
          <p:nvPr/>
        </p:nvGrpSpPr>
        <p:grpSpPr>
          <a:xfrm>
            <a:off x="609600" y="5734050"/>
            <a:ext cx="10972800" cy="419100"/>
            <a:chOff x="609600" y="5734050"/>
            <a:chExt cx="10972800" cy="419100"/>
          </a:xfrm>
        </p:grpSpPr>
        <p:sp>
          <p:nvSpPr>
            <p:cNvPr id="66" name="Rectangle 66"/>
            <p:cNvSpPr/>
            <p:nvPr/>
          </p:nvSpPr>
          <p:spPr>
            <a:xfrm>
              <a:off x="609600" y="5734050"/>
              <a:ext cx="10972800" cy="419100"/>
            </a:xfrm>
            <a:prstGeom prst="roundRect">
              <a:avLst>
                <a:gd name="adj" fmla="val 2272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2104" y="5871210"/>
              <a:ext cx="8756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この本で検索する番号: AA10000000AA（済）・UQ10005480SY（①が未完了で未決済）・ZZ20000080ZZ（③なしで済）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起動して、台帳を作ります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753504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ReaderDataViewer.vbs で起動すると、入力を読んで台帳と突き合わせます。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2" name="shot-no-ledger"/>
          <p:cNvGrpSpPr/>
          <p:nvPr/>
        </p:nvGrpSpPr>
        <p:grpSpPr>
          <a:xfrm>
            <a:off x="603504" y="1866900"/>
            <a:ext cx="5340096" cy="1705356"/>
            <a:chOff x="603504" y="1866900"/>
            <a:chExt cx="5340096" cy="1705356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5334000" cy="1390650"/>
            </a:xfrm>
            <a:prstGeom prst="roundRect">
              <a:avLst>
                <a:gd name="adj" fmla="val 8219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5029200" cy="1082992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333756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台帳がないとき。［はい］で入力ファイルから台帳を作ります。</a:t>
              </a:r>
            </a:p>
          </p:txBody>
        </p:sp>
      </p:grpSp>
      <p:grpSp>
        <p:nvGrpSpPr>
          <p:cNvPr id="16" name="shot-difference"/>
          <p:cNvGrpSpPr/>
          <p:nvPr/>
        </p:nvGrpSpPr>
        <p:grpSpPr>
          <a:xfrm>
            <a:off x="603504" y="3619500"/>
            <a:ext cx="5340096" cy="1838706"/>
            <a:chOff x="603504" y="3619500"/>
            <a:chExt cx="5340096" cy="1838706"/>
          </a:xfrm>
        </p:grpSpPr>
        <p:sp>
          <p:nvSpPr>
            <p:cNvPr id="13" name="Rectangle 13"/>
            <p:cNvSpPr/>
            <p:nvPr/>
          </p:nvSpPr>
          <p:spPr>
            <a:xfrm>
              <a:off x="609600" y="36195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3771900"/>
              <a:ext cx="5029200" cy="1220152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03504" y="522351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入力と台帳に差があるとき。［いいえ］なら保存済みの台帳のまま。</a:t>
              </a:r>
            </a:p>
          </p:txBody>
        </p:sp>
      </p:grpSp>
      <p:grpSp>
        <p:nvGrpSpPr>
          <p:cNvPr id="19" name="import-note"/>
          <p:cNvGrpSpPr/>
          <p:nvPr/>
        </p:nvGrpSpPr>
        <p:grpSpPr>
          <a:xfrm>
            <a:off x="609600" y="5524500"/>
            <a:ext cx="5334000" cy="628650"/>
            <a:chOff x="609600" y="5524500"/>
            <a:chExt cx="5334000" cy="628650"/>
          </a:xfrm>
        </p:grpSpPr>
        <p:sp>
          <p:nvSpPr>
            <p:cNvPr id="17" name="Rectangle 17"/>
            <p:cNvSpPr/>
            <p:nvPr/>
          </p:nvSpPr>
          <p:spPr>
            <a:xfrm>
              <a:off x="609600" y="5524500"/>
              <a:ext cx="53340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4004" y="5633085"/>
              <a:ext cx="4584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どちらも「更新の確認」です。ファイルを置いただけでは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台帳は変わらず、起動時の確認か［データ更新］で取り込みます。</a:t>
              </a:r>
            </a:p>
          </p:txBody>
        </p:sp>
      </p:grpSp>
      <p:grpSp>
        <p:nvGrpSpPr>
          <p:cNvPr id="23" name="shot-ready"/>
          <p:cNvGrpSpPr/>
          <p:nvPr/>
        </p:nvGrpSpPr>
        <p:grpSpPr>
          <a:xfrm>
            <a:off x="6242304" y="1866900"/>
            <a:ext cx="5340096" cy="4353306"/>
            <a:chOff x="6242304" y="1866900"/>
            <a:chExt cx="5340096" cy="4353306"/>
          </a:xfrm>
        </p:grpSpPr>
        <p:sp>
          <p:nvSpPr>
            <p:cNvPr id="20" name="Rectangle 20"/>
            <p:cNvSpPr/>
            <p:nvPr/>
          </p:nvSpPr>
          <p:spPr>
            <a:xfrm>
              <a:off x="6248400" y="1866900"/>
              <a:ext cx="5334000" cy="4038600"/>
            </a:xfrm>
            <a:prstGeom prst="roundRect">
              <a:avLst>
                <a:gd name="adj" fmla="val 2830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47946" y="2019300"/>
              <a:ext cx="4334907" cy="37338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6242304" y="5985510"/>
              <a:ext cx="4204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作成後の主画面。台帳件数 100、決済状況は「未検索」。</a:t>
              </a:r>
            </a:p>
          </p:txBody>
        </p:sp>
      </p:grpSp>
      <p:grpSp>
        <p:nvGrpSpPr>
          <p:cNvPr id="26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384810" y="476250"/>
            <a:ext cx="11197590" cy="1228725"/>
            <a:chOff x="384810" y="476250"/>
            <a:chExt cx="1119759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4810" y="8572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［データ更新］で取り込みます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何を読み、どう処理し、どこへ書くかを、実行前に確かめられます。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1" name="shot-update-dialog"/>
          <p:cNvGrpSpPr/>
          <p:nvPr/>
        </p:nvGrpSpPr>
        <p:grpSpPr>
          <a:xfrm>
            <a:off x="609600" y="1866900"/>
            <a:ext cx="6162675" cy="4305300"/>
            <a:chOff x="609600" y="1866900"/>
            <a:chExt cx="6162675" cy="430530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6162675" cy="4305300"/>
            </a:xfrm>
            <a:prstGeom prst="roundRect">
              <a:avLst>
                <a:gd name="adj" fmla="val 2655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5857875" cy="4000500"/>
            </a:xfrm>
            <a:prstGeom prst="rect">
              <a:avLst/>
            </a:prstGeom>
          </p:spPr>
        </p:pic>
      </p:grpSp>
      <p:grpSp>
        <p:nvGrpSpPr>
          <p:cNvPr id="30" name="dialog-parts"/>
          <p:cNvGrpSpPr/>
          <p:nvPr/>
        </p:nvGrpSpPr>
        <p:grpSpPr>
          <a:xfrm>
            <a:off x="7077075" y="1866900"/>
            <a:ext cx="4505325" cy="4305300"/>
            <a:chOff x="7077075" y="1866900"/>
            <a:chExt cx="4505325" cy="4305300"/>
          </a:xfrm>
        </p:grpSpPr>
        <p:grpSp>
          <p:nvGrpSpPr>
            <p:cNvPr id="15" name="part-inputs"/>
            <p:cNvGrpSpPr/>
            <p:nvPr/>
          </p:nvGrpSpPr>
          <p:grpSpPr>
            <a:xfrm>
              <a:off x="7077075" y="1866900"/>
              <a:ext cx="4505325" cy="990600"/>
              <a:chOff x="7077075" y="1866900"/>
              <a:chExt cx="4505325" cy="9906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077075" y="1866900"/>
                <a:ext cx="4505325" cy="9906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298817" y="20069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取り込むデータ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299579" y="2270760"/>
                <a:ext cx="341071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設定された表・ファイル・キー・行数と、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見出しの検証（列一致 / ファイルなし / 不一致）</a:t>
                </a:r>
              </a:p>
            </p:txBody>
          </p:sp>
        </p:grpSp>
        <p:grpSp>
          <p:nvGrpSpPr>
            <p:cNvPr id="19" name="part-steps"/>
            <p:cNvGrpSpPr/>
            <p:nvPr/>
          </p:nvGrpSpPr>
          <p:grpSpPr>
            <a:xfrm>
              <a:off x="7077075" y="2971800"/>
              <a:ext cx="4505325" cy="990600"/>
              <a:chOff x="7077075" y="2971800"/>
              <a:chExt cx="4505325" cy="9906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077075" y="2971800"/>
                <a:ext cx="4505325" cy="9906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298817" y="3111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処理内容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99579" y="3375660"/>
                <a:ext cx="331927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設定の手順を、上から順に表示します。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操作・対象・キー・条件・出力（写真は 11 段）</a:t>
                </a:r>
              </a:p>
            </p:txBody>
          </p:sp>
        </p:grpSp>
        <p:grpSp>
          <p:nvGrpSpPr>
            <p:cNvPr id="23" name="part-output"/>
            <p:cNvGrpSpPr/>
            <p:nvPr/>
          </p:nvGrpSpPr>
          <p:grpSpPr>
            <a:xfrm>
              <a:off x="7077075" y="4076700"/>
              <a:ext cx="4505325" cy="762000"/>
              <a:chOff x="7077075" y="4076700"/>
              <a:chExt cx="4505325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077075" y="4076700"/>
                <a:ext cx="4505325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298817" y="42167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書き出し先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299579" y="448056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台帳のパス・ファイル名・最終更新</a:t>
                </a:r>
              </a:p>
            </p:txBody>
          </p:sp>
        </p:grpSp>
        <p:grpSp>
          <p:nvGrpSpPr>
            <p:cNvPr id="29" name="part-execute"/>
            <p:cNvGrpSpPr/>
            <p:nvPr/>
          </p:nvGrpSpPr>
          <p:grpSpPr>
            <a:xfrm>
              <a:off x="7077075" y="4953000"/>
              <a:ext cx="4505325" cy="1219200"/>
              <a:chOff x="7077075" y="4953000"/>
              <a:chExt cx="4505325" cy="12192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077075" y="4953000"/>
                <a:ext cx="4505325" cy="1219200"/>
              </a:xfrm>
              <a:prstGeom prst="roundRect">
                <a:avLst>
                  <a:gd name="adj" fmla="val 9375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077075" y="4953000"/>
                <a:ext cx="47625" cy="12192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299579" y="50901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［実行］すると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299579" y="5318760"/>
                <a:ext cx="357835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入力と台帳を比べ、差があれば「更新の確認」、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なければ「更新はありません (台帳は最新です)」。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299579" y="5833110"/>
                <a:ext cx="312191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手順の変更は settings.json で行います。</a:t>
                </a:r>
              </a:p>
            </p:txBody>
          </p:sp>
        </p:grpSp>
      </p:grpSp>
      <p:grpSp>
        <p:nvGrpSpPr>
          <p:cNvPr id="33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番号で検索します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4876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件だけ見つかると、その行がすぐ表示されます。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1" name="shot-found"/>
          <p:cNvGrpSpPr/>
          <p:nvPr/>
        </p:nvGrpSpPr>
        <p:grpSpPr>
          <a:xfrm>
            <a:off x="609600" y="1866900"/>
            <a:ext cx="4953000" cy="4305300"/>
            <a:chOff x="609600" y="1866900"/>
            <a:chExt cx="4953000" cy="430530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4953000" cy="4305300"/>
            </a:xfrm>
            <a:prstGeom prst="roundRect">
              <a:avLst>
                <a:gd name="adj" fmla="val 2655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4648200" cy="4003358"/>
            </a:xfrm>
            <a:prstGeom prst="rect">
              <a:avLst/>
            </a:prstGeom>
          </p:spPr>
        </p:pic>
      </p:grpSp>
      <p:grpSp>
        <p:nvGrpSpPr>
          <p:cNvPr id="33" name="search-steps"/>
          <p:cNvGrpSpPr/>
          <p:nvPr/>
        </p:nvGrpSpPr>
        <p:grpSpPr>
          <a:xfrm>
            <a:off x="5953125" y="2009775"/>
            <a:ext cx="3988689" cy="2934081"/>
            <a:chOff x="5953125" y="2009775"/>
            <a:chExt cx="3988689" cy="2934081"/>
          </a:xfrm>
        </p:grpSpPr>
        <p:sp>
          <p:nvSpPr>
            <p:cNvPr id="12" name="Line 12"/>
            <p:cNvSpPr/>
            <p:nvPr/>
          </p:nvSpPr>
          <p:spPr>
            <a:xfrm>
              <a:off x="6096000" y="2152650"/>
              <a:ext cx="9525" cy="2400300"/>
            </a:xfrm>
            <a:custGeom>
              <a:avLst/>
              <a:gdLst/>
              <a:ahLst/>
              <a:cxnLst/>
              <a:rect l="l" t="t" r="r" b="b"/>
              <a:pathLst>
                <a:path w="9525" h="2400300">
                  <a:moveTo>
                    <a:pt x="0" y="0"/>
                  </a:moveTo>
                  <a:lnTo>
                    <a:pt x="0" y="24003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7" name="search-step-input"/>
            <p:cNvGrpSpPr/>
            <p:nvPr/>
          </p:nvGrpSpPr>
          <p:grpSpPr>
            <a:xfrm>
              <a:off x="5953125" y="2009775"/>
              <a:ext cx="2696337" cy="533781"/>
              <a:chOff x="5953125" y="2009775"/>
              <a:chExt cx="2696337" cy="533781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5953125" y="20097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043258" y="20802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74892" y="20640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入力欄に番号を入れる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375654" y="23088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サンプルは会員番号か受付番号</a:t>
                </a:r>
              </a:p>
            </p:txBody>
          </p:sp>
        </p:grpSp>
        <p:grpSp>
          <p:nvGrpSpPr>
            <p:cNvPr id="22" name="search-step-button"/>
            <p:cNvGrpSpPr/>
            <p:nvPr/>
          </p:nvGrpSpPr>
          <p:grpSpPr>
            <a:xfrm>
              <a:off x="5953125" y="2809875"/>
              <a:ext cx="3947236" cy="533781"/>
              <a:chOff x="5953125" y="2809875"/>
              <a:chExt cx="3947236" cy="533781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953125" y="28098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43258" y="2880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74892" y="28641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［検索］を押す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75654" y="3108960"/>
                <a:ext cx="3524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番号の形式に合わない値は、検索しない（P13）</a:t>
                </a:r>
              </a:p>
            </p:txBody>
          </p:sp>
        </p:grpSp>
        <p:grpSp>
          <p:nvGrpSpPr>
            <p:cNvPr id="27" name="search-step-shown"/>
            <p:cNvGrpSpPr/>
            <p:nvPr/>
          </p:nvGrpSpPr>
          <p:grpSpPr>
            <a:xfrm>
              <a:off x="5953125" y="3609975"/>
              <a:ext cx="3988689" cy="533781"/>
              <a:chOff x="5953125" y="3609975"/>
              <a:chExt cx="3988689" cy="533781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5953125" y="36099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043258" y="3680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74892" y="3664268"/>
                <a:ext cx="21750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件なら、すぐ表示される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75654" y="3909060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読取値に番号、決済状況に判定（写真は「済」）</a:t>
                </a:r>
              </a:p>
            </p:txBody>
          </p:sp>
        </p:grpSp>
        <p:grpSp>
          <p:nvGrpSpPr>
            <p:cNvPr id="32" name="search-step-not-recorded"/>
            <p:cNvGrpSpPr/>
            <p:nvPr/>
          </p:nvGrpSpPr>
          <p:grpSpPr>
            <a:xfrm>
              <a:off x="5953125" y="4410075"/>
              <a:ext cx="3301060" cy="533781"/>
              <a:chOff x="5953125" y="4410075"/>
              <a:chExt cx="3301060" cy="533781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5953125" y="44100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043258" y="4480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74892" y="44643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まだ何も記録されていない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75654" y="4709160"/>
                <a:ext cx="28785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状態ボタンは「未処理」のまま（P14）</a:t>
                </a:r>
              </a:p>
            </p:txBody>
          </p:sp>
        </p:grpSp>
      </p:grpSp>
      <p:grpSp>
        <p:nvGrpSpPr>
          <p:cNvPr id="38" name="search-note"/>
          <p:cNvGrpSpPr/>
          <p:nvPr/>
        </p:nvGrpSpPr>
        <p:grpSpPr>
          <a:xfrm>
            <a:off x="5867400" y="5143500"/>
            <a:ext cx="5715000" cy="1028700"/>
            <a:chOff x="5867400" y="5143500"/>
            <a:chExt cx="5715000" cy="1028700"/>
          </a:xfrm>
        </p:grpSpPr>
        <p:sp>
          <p:nvSpPr>
            <p:cNvPr id="34" name="Rectangle 34"/>
            <p:cNvSpPr/>
            <p:nvPr/>
          </p:nvSpPr>
          <p:spPr>
            <a:xfrm>
              <a:off x="5867400" y="5143500"/>
              <a:ext cx="5715000" cy="102870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67400" y="5143500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9904" y="52997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探す列と一致のしかたは、設定で決まります。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89904" y="5547360"/>
              <a:ext cx="35173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完全一致か部分一致。サンプルは会員番号照合用と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申請番号照合用の 2 列を、完全一致で探します。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判定と空欄を読みます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判定の帯と空欄は、設定の規則どおりに出ます。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2" name="shot-unpaid"/>
          <p:cNvGrpSpPr/>
          <p:nvPr/>
        </p:nvGrpSpPr>
        <p:grpSpPr>
          <a:xfrm>
            <a:off x="603504" y="1866900"/>
            <a:ext cx="5340096" cy="3934206"/>
            <a:chOff x="603504" y="1866900"/>
            <a:chExt cx="5340096" cy="3934206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5334000" cy="3390900"/>
            </a:xfrm>
            <a:prstGeom prst="roundRect">
              <a:avLst>
                <a:gd name="adj" fmla="val 3371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5133" y="2019300"/>
              <a:ext cx="3582933" cy="30861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356860"/>
              <a:ext cx="41269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UQ10005480SY: ①が未完了なので「未決済」。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申請情報・備考欄・変更内容は空欄（利用者情報は出る）。</a:t>
              </a:r>
            </a:p>
          </p:txBody>
        </p:sp>
      </p:grpSp>
      <p:grpSp>
        <p:nvGrpSpPr>
          <p:cNvPr id="16" name="shot-no-application"/>
          <p:cNvGrpSpPr/>
          <p:nvPr/>
        </p:nvGrpSpPr>
        <p:grpSpPr>
          <a:xfrm>
            <a:off x="6242304" y="1866900"/>
            <a:ext cx="5340096" cy="3934206"/>
            <a:chOff x="6242304" y="1866900"/>
            <a:chExt cx="5340096" cy="3934206"/>
          </a:xfrm>
        </p:grpSpPr>
        <p:sp>
          <p:nvSpPr>
            <p:cNvPr id="13" name="Rectangle 13"/>
            <p:cNvSpPr/>
            <p:nvPr/>
          </p:nvSpPr>
          <p:spPr>
            <a:xfrm>
              <a:off x="6248400" y="1866900"/>
              <a:ext cx="5334000" cy="3390900"/>
            </a:xfrm>
            <a:prstGeom prst="roundRect">
              <a:avLst>
                <a:gd name="adj" fmla="val 3371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3933" y="2019300"/>
              <a:ext cx="3582933" cy="30861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2304" y="5356860"/>
              <a:ext cx="398983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ZZ20000080ZZ: ③は無いが、①②とも決済済なので「済」。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③から来る項目だけ空欄（受付番号・会員番号は出る）。</a:t>
              </a:r>
            </a:p>
          </p:txBody>
        </p:sp>
      </p:grpSp>
      <p:grpSp>
        <p:nvGrpSpPr>
          <p:cNvPr id="19" name="judgment-note"/>
          <p:cNvGrpSpPr/>
          <p:nvPr/>
        </p:nvGrpSpPr>
        <p:grpSpPr>
          <a:xfrm>
            <a:off x="609600" y="5848350"/>
            <a:ext cx="10972800" cy="324231"/>
            <a:chOff x="609600" y="5848350"/>
            <a:chExt cx="10972800" cy="324231"/>
          </a:xfrm>
        </p:grpSpPr>
        <p:sp>
          <p:nvSpPr>
            <p:cNvPr id="17" name="Rectangle 17"/>
            <p:cNvSpPr/>
            <p:nvPr/>
          </p:nvSpPr>
          <p:spPr>
            <a:xfrm>
              <a:off x="609600" y="5848350"/>
              <a:ext cx="109728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4004" y="5937885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判定の帯の色と文字は、見た目の設定です。変えても処理の意味は変わりません。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604496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件以上見つかったら、選びます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候補一覧で選ぶまで、主画面には何も表示されません。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2" name="shot-candidates"/>
          <p:cNvGrpSpPr/>
          <p:nvPr/>
        </p:nvGrpSpPr>
        <p:grpSpPr>
          <a:xfrm>
            <a:off x="603504" y="1866900"/>
            <a:ext cx="10978896" cy="2334006"/>
            <a:chOff x="603504" y="1866900"/>
            <a:chExt cx="10978896" cy="2334006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10972800" cy="2019300"/>
            </a:xfrm>
            <a:prstGeom prst="roundRect">
              <a:avLst>
                <a:gd name="adj" fmla="val 5660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10668000" cy="170688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3966210"/>
              <a:ext cx="6797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「該当案件」。受付番号・会員番号・管理番号・申請日・決済状況・処理の列で見分けます。</a:t>
              </a:r>
            </a:p>
          </p:txBody>
        </p:sp>
      </p:grpSp>
      <p:grpSp>
        <p:nvGrpSpPr>
          <p:cNvPr id="17" name="how-to-pick"/>
          <p:cNvGrpSpPr/>
          <p:nvPr/>
        </p:nvGrpSpPr>
        <p:grpSpPr>
          <a:xfrm>
            <a:off x="609600" y="4267200"/>
            <a:ext cx="5334000" cy="1562100"/>
            <a:chOff x="609600" y="4267200"/>
            <a:chExt cx="5334000" cy="1562100"/>
          </a:xfrm>
        </p:grpSpPr>
        <p:sp>
          <p:nvSpPr>
            <p:cNvPr id="13" name="Rectangle 13"/>
            <p:cNvSpPr/>
            <p:nvPr/>
          </p:nvSpPr>
          <p:spPr>
            <a:xfrm>
              <a:off x="609600" y="4267200"/>
              <a:ext cx="5334000" cy="1562100"/>
            </a:xfrm>
            <a:prstGeom prst="roundRect">
              <a:avLst>
                <a:gd name="adj" fmla="val 73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342" y="4426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選び方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104" y="4690110"/>
              <a:ext cx="4378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行を選んで［OK］。ダブルクリックか Enter でも決まります。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［キャンセル］なら、何も表示しません。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104" y="5261610"/>
              <a:ext cx="335737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撮影では 2 行目を選び、大阪オンBC11-20001 の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行が主画面に表示されました。</a:t>
              </a:r>
            </a:p>
          </p:txBody>
        </p:sp>
      </p:grpSp>
      <p:grpSp>
        <p:nvGrpSpPr>
          <p:cNvPr id="23" name="about-this-photo"/>
          <p:cNvGrpSpPr/>
          <p:nvPr/>
        </p:nvGrpSpPr>
        <p:grpSpPr>
          <a:xfrm>
            <a:off x="6248400" y="4267200"/>
            <a:ext cx="5334000" cy="1562100"/>
            <a:chOff x="6248400" y="4267200"/>
            <a:chExt cx="5334000" cy="1562100"/>
          </a:xfrm>
        </p:grpSpPr>
        <p:sp>
          <p:nvSpPr>
            <p:cNvPr id="18" name="Rectangle 18"/>
            <p:cNvSpPr/>
            <p:nvPr/>
          </p:nvSpPr>
          <p:spPr>
            <a:xfrm>
              <a:off x="6248400" y="4267200"/>
              <a:ext cx="5334000" cy="1562100"/>
            </a:xfrm>
            <a:prstGeom prst="roundRect">
              <a:avLst>
                <a:gd name="adj" fmla="val 731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48400" y="426720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08242" y="4426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この写真について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09004" y="4690110"/>
              <a:ext cx="37155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候補を 2 件にするため、この写真だけ、台帳の 1 行の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会員番号を 1 行目と同じに書き換えました。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09004" y="5261610"/>
              <a:ext cx="410413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書き換え方は tests/Test-PaymentLive.ps1 と同じです。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配布サンプルでは、1 つの番号に 1 件です。</a:t>
              </a:r>
            </a:p>
          </p:txBody>
        </p:sp>
      </p:grpSp>
      <p:grpSp>
        <p:nvGrpSpPr>
          <p:cNvPr id="26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見つからないとき、形式が違うとき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42699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番号の形式に合わない値は、検索しません。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1" name="shot-not-found"/>
          <p:cNvGrpSpPr/>
          <p:nvPr/>
        </p:nvGrpSpPr>
        <p:grpSpPr>
          <a:xfrm>
            <a:off x="609600" y="1866900"/>
            <a:ext cx="4953000" cy="4305300"/>
            <a:chOff x="609600" y="1866900"/>
            <a:chExt cx="4953000" cy="430530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4953000" cy="4305300"/>
            </a:xfrm>
            <a:prstGeom prst="roundRect">
              <a:avLst>
                <a:gd name="adj" fmla="val 2655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4648200" cy="4003358"/>
            </a:xfrm>
            <a:prstGeom prst="rect">
              <a:avLst/>
            </a:prstGeom>
          </p:spPr>
        </p:pic>
      </p:grpSp>
      <p:grpSp>
        <p:nvGrpSpPr>
          <p:cNvPr id="14" name="not-found-explained"/>
          <p:cNvGrpSpPr/>
          <p:nvPr/>
        </p:nvGrpSpPr>
        <p:grpSpPr>
          <a:xfrm>
            <a:off x="5860542" y="1968818"/>
            <a:ext cx="4104894" cy="936688"/>
            <a:chOff x="5860542" y="1968818"/>
            <a:chExt cx="4104894" cy="936688"/>
          </a:xfrm>
        </p:grpSpPr>
        <p:sp>
          <p:nvSpPr>
            <p:cNvPr id="12" name="TextBox 12"/>
            <p:cNvSpPr txBox="1"/>
            <p:nvPr/>
          </p:nvSpPr>
          <p:spPr>
            <a:xfrm>
              <a:off x="5860542" y="1968818"/>
              <a:ext cx="3040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該当なし（写真は AB12345678CD）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61304" y="2232660"/>
              <a:ext cx="4104132" cy="672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表示は空のまま、決済状況は「未検索」になります。</a:t>
              </a:r>
            </a:p>
            <a:p>
              <a:pPr algn="l">
                <a:lnSpc>
                  <a:spcPts val="1650"/>
                </a:lnSpc>
                <a:spcBef>
                  <a:spcPts val="150"/>
                </a:spcBef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状態欄に「見つかりません」と出ますが、このサンプル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設定では時計と同じ欄なので、1 秒ほどで時計に戻ります。</a:t>
              </a:r>
            </a:p>
          </p:txBody>
        </p:sp>
      </p:grpSp>
      <p:grpSp>
        <p:nvGrpSpPr>
          <p:cNvPr id="20" name="format-error"/>
          <p:cNvGrpSpPr/>
          <p:nvPr/>
        </p:nvGrpSpPr>
        <p:grpSpPr>
          <a:xfrm>
            <a:off x="5860542" y="3028950"/>
            <a:ext cx="5721858" cy="2314956"/>
            <a:chOff x="5860542" y="3028950"/>
            <a:chExt cx="5721858" cy="2314956"/>
          </a:xfrm>
        </p:grpSpPr>
        <p:sp>
          <p:nvSpPr>
            <p:cNvPr id="15" name="Rectangle 15"/>
            <p:cNvSpPr/>
            <p:nvPr/>
          </p:nvSpPr>
          <p:spPr>
            <a:xfrm>
              <a:off x="5867400" y="3028950"/>
              <a:ext cx="57150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60542" y="3207068"/>
              <a:ext cx="2231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形式違い（写真は 12345）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67400" y="3486150"/>
              <a:ext cx="5715000" cy="1524000"/>
            </a:xfrm>
            <a:prstGeom prst="roundRect">
              <a:avLst>
                <a:gd name="adj" fmla="val 7500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19800" y="3638550"/>
              <a:ext cx="5410200" cy="12192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5861304" y="5109210"/>
              <a:ext cx="49312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警告「決済会員番号 が形式 … に一致しません」。検索はしません。</a:t>
              </a:r>
            </a:p>
          </p:txBody>
        </p:sp>
      </p:grpSp>
      <p:grpSp>
        <p:nvGrpSpPr>
          <p:cNvPr id="23" name="pattern-note"/>
          <p:cNvGrpSpPr/>
          <p:nvPr/>
        </p:nvGrpSpPr>
        <p:grpSpPr>
          <a:xfrm>
            <a:off x="5867400" y="5410200"/>
            <a:ext cx="5715000" cy="762000"/>
            <a:chOff x="5867400" y="5410200"/>
            <a:chExt cx="5715000" cy="762000"/>
          </a:xfrm>
        </p:grpSpPr>
        <p:sp>
          <p:nvSpPr>
            <p:cNvPr id="21" name="Rectangle 21"/>
            <p:cNvSpPr/>
            <p:nvPr/>
          </p:nvSpPr>
          <p:spPr>
            <a:xfrm>
              <a:off x="5867400" y="5410200"/>
              <a:ext cx="571500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51804" y="5566410"/>
              <a:ext cx="49270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形式は settings.json の search.pattern（正規表現）で決まります。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サンプルは「AA10000000AA」か「東京オンAB10-20000」の形。</a:t>
              </a:r>
            </a:p>
          </p:txBody>
        </p:sp>
      </p:grpSp>
      <p:grpSp>
        <p:nvGrpSpPr>
          <p:cNvPr id="26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確かめたら、処理済にします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61409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印はまずこの PC に保存され、まだ共有台帳には書かれません。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2" name="shot-before"/>
          <p:cNvGrpSpPr/>
          <p:nvPr/>
        </p:nvGrpSpPr>
        <p:grpSpPr>
          <a:xfrm>
            <a:off x="603504" y="1866900"/>
            <a:ext cx="5340096" cy="3610356"/>
            <a:chOff x="603504" y="1866900"/>
            <a:chExt cx="5340096" cy="3610356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5334000" cy="3276600"/>
            </a:xfrm>
            <a:prstGeom prst="roundRect">
              <a:avLst>
                <a:gd name="adj" fmla="val 3488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1484" y="2019300"/>
              <a:ext cx="3450232" cy="29718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2425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押す前: 状態ボタン［未処理］、未送信 0 件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5972175" y="3352800"/>
            <a:ext cx="247650" cy="3048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7" name="shot-after"/>
          <p:cNvGrpSpPr/>
          <p:nvPr/>
        </p:nvGrpSpPr>
        <p:grpSpPr>
          <a:xfrm>
            <a:off x="6242304" y="1866900"/>
            <a:ext cx="5340096" cy="3610356"/>
            <a:chOff x="6242304" y="1866900"/>
            <a:chExt cx="5340096" cy="3610356"/>
          </a:xfrm>
        </p:grpSpPr>
        <p:sp>
          <p:nvSpPr>
            <p:cNvPr id="14" name="Rectangle 14"/>
            <p:cNvSpPr/>
            <p:nvPr/>
          </p:nvSpPr>
          <p:spPr>
            <a:xfrm>
              <a:off x="6248400" y="1866900"/>
              <a:ext cx="5334000" cy="3276600"/>
            </a:xfrm>
            <a:prstGeom prst="roundRect">
              <a:avLst>
                <a:gd name="adj" fmla="val 3488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0284" y="2019300"/>
              <a:ext cx="3450232" cy="29718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6242304" y="5242560"/>
              <a:ext cx="4179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押した後: ［処理済］、未送信 1 件（まだこの PC だけ）</a:t>
              </a:r>
            </a:p>
          </p:txBody>
        </p:sp>
      </p:grpSp>
      <p:grpSp>
        <p:nvGrpSpPr>
          <p:cNvPr id="20" name="state-notes"/>
          <p:cNvGrpSpPr/>
          <p:nvPr/>
        </p:nvGrpSpPr>
        <p:grpSpPr>
          <a:xfrm>
            <a:off x="609600" y="5562600"/>
            <a:ext cx="10972800" cy="609600"/>
            <a:chOff x="609600" y="5562600"/>
            <a:chExt cx="10972800" cy="609600"/>
          </a:xfrm>
        </p:grpSpPr>
        <p:sp>
          <p:nvSpPr>
            <p:cNvPr id="18" name="Rectangle 18"/>
            <p:cNvSpPr/>
            <p:nvPr/>
          </p:nvSpPr>
          <p:spPr>
            <a:xfrm>
              <a:off x="609600" y="556260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4004" y="5671185"/>
              <a:ext cx="8112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処理済から未処理へ戻すときは「表示中の案件を未処理に戻します。よろしいですか。」と確かめられます。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自動読み取りで 1 件に決まったときは、サンプル設定では自動で処理済へ進みます（手入力の検索では進みません）。</a:t>
              </a:r>
            </a:p>
          </p:txBody>
        </p:sp>
      </p:grpSp>
      <p:grpSp>
        <p:nvGrpSpPr>
          <p:cNvPr id="23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384810" y="476250"/>
            <a:ext cx="11197590" cy="1228725"/>
            <a:chOff x="384810" y="476250"/>
            <a:chExt cx="1119759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4810" y="857250"/>
              <a:ext cx="85115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［変更をまとめて送信］で共有台帳へ書きます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処理済にした行も、未処理に戻した行も、今の状態を送ります。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2" name="shot-send-confirm"/>
          <p:cNvGrpSpPr/>
          <p:nvPr/>
        </p:nvGrpSpPr>
        <p:grpSpPr>
          <a:xfrm>
            <a:off x="603504" y="1866900"/>
            <a:ext cx="5340096" cy="2257806"/>
            <a:chOff x="603504" y="1866900"/>
            <a:chExt cx="5340096" cy="2257806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5334000" cy="1724025"/>
            </a:xfrm>
            <a:prstGeom prst="roundRect">
              <a:avLst>
                <a:gd name="adj" fmla="val 6630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5029200" cy="14192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3680460"/>
              <a:ext cx="354025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「送信」の確認。［はい］で送ります。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撮影では、送った後に未送信が 0 件になりました。</a:t>
              </a:r>
            </a:p>
          </p:txBody>
        </p:sp>
      </p:grpSp>
      <p:grpSp>
        <p:nvGrpSpPr>
          <p:cNvPr id="18" name="conflict-note"/>
          <p:cNvGrpSpPr/>
          <p:nvPr/>
        </p:nvGrpSpPr>
        <p:grpSpPr>
          <a:xfrm>
            <a:off x="609600" y="4229100"/>
            <a:ext cx="5334000" cy="1943100"/>
            <a:chOff x="609600" y="4229100"/>
            <a:chExt cx="5334000" cy="1943100"/>
          </a:xfrm>
        </p:grpSpPr>
        <p:sp>
          <p:nvSpPr>
            <p:cNvPr id="13" name="Rectangle 13"/>
            <p:cNvSpPr/>
            <p:nvPr/>
          </p:nvSpPr>
          <p:spPr>
            <a:xfrm>
              <a:off x="609600" y="4229100"/>
              <a:ext cx="5334000" cy="1943100"/>
            </a:xfrm>
            <a:prstGeom prst="roundRect">
              <a:avLst>
                <a:gd name="adj" fmla="val 588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4229100"/>
              <a:ext cx="47625" cy="1943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9442" y="4388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合わない行は、上書きしません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204" y="4671060"/>
              <a:ext cx="351739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照合で、行が無い・中身が変わった・ほかの状態に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なっていた変更は、未送信のまま残します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（P21「送信できなかったレコード」）。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204" y="5490210"/>
              <a:ext cx="21457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閉じても未送信は残りますが、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別の PC へは移りません。</a:t>
              </a:r>
            </a:p>
          </p:txBody>
        </p:sp>
      </p:grpSp>
      <p:grpSp>
        <p:nvGrpSpPr>
          <p:cNvPr id="42" name="send-steps"/>
          <p:cNvGrpSpPr/>
          <p:nvPr/>
        </p:nvGrpSpPr>
        <p:grpSpPr>
          <a:xfrm>
            <a:off x="6240780" y="1876425"/>
            <a:ext cx="3920490" cy="4248531"/>
            <a:chOff x="6240780" y="1876425"/>
            <a:chExt cx="3920490" cy="4248531"/>
          </a:xfrm>
        </p:grpSpPr>
        <p:sp>
          <p:nvSpPr>
            <p:cNvPr id="19" name="TextBox 19"/>
            <p:cNvSpPr txBox="1"/>
            <p:nvPr/>
          </p:nvSpPr>
          <p:spPr>
            <a:xfrm>
              <a:off x="6240780" y="1876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送信で起きること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477000" y="2438400"/>
              <a:ext cx="9525" cy="2743200"/>
            </a:xfrm>
            <a:custGeom>
              <a:avLst/>
              <a:gdLst/>
              <a:ahLst/>
              <a:cxnLst/>
              <a:rect l="l" t="t" r="r" b="b"/>
              <a:pathLst>
                <a:path w="9525"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25" name="send-step-lock"/>
            <p:cNvGrpSpPr/>
            <p:nvPr/>
          </p:nvGrpSpPr>
          <p:grpSpPr>
            <a:xfrm>
              <a:off x="6334125" y="2295525"/>
              <a:ext cx="3309595" cy="552831"/>
              <a:chOff x="6334125" y="2295525"/>
              <a:chExt cx="3309595" cy="552831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6334125" y="22955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424258" y="23660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755892" y="23498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ロックを取る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56654" y="2613660"/>
                <a:ext cx="28870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ほかの PC と同時に書かないようにする</a:t>
                </a:r>
              </a:p>
            </p:txBody>
          </p:sp>
        </p:grpSp>
        <p:grpSp>
          <p:nvGrpSpPr>
            <p:cNvPr id="30" name="send-step-reload"/>
            <p:cNvGrpSpPr/>
            <p:nvPr/>
          </p:nvGrpSpPr>
          <p:grpSpPr>
            <a:xfrm>
              <a:off x="6334125" y="3209925"/>
              <a:ext cx="3665601" cy="552831"/>
              <a:chOff x="6334125" y="3209925"/>
              <a:chExt cx="3665601" cy="55283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334125" y="32099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424258" y="3280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55892" y="32642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最新の共有台帳を読み直す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56654" y="3528060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ほかの人が書いた変更を取り込んでから書く</a:t>
                </a:r>
              </a:p>
            </p:txBody>
          </p:sp>
        </p:grpSp>
        <p:grpSp>
          <p:nvGrpSpPr>
            <p:cNvPr id="35" name="send-step-check"/>
            <p:cNvGrpSpPr/>
            <p:nvPr/>
          </p:nvGrpSpPr>
          <p:grpSpPr>
            <a:xfrm>
              <a:off x="6334125" y="4124325"/>
              <a:ext cx="3827145" cy="552831"/>
              <a:chOff x="6334125" y="4124325"/>
              <a:chExt cx="3827145" cy="552831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6334125" y="41243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424258" y="4194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41786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照合する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6654" y="444246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行の中身と、変更前の状態が変わっていないか</a:t>
                </a:r>
              </a:p>
            </p:txBody>
          </p:sp>
        </p:grpSp>
        <p:grpSp>
          <p:nvGrpSpPr>
            <p:cNvPr id="40" name="send-step-write"/>
            <p:cNvGrpSpPr/>
            <p:nvPr/>
          </p:nvGrpSpPr>
          <p:grpSpPr>
            <a:xfrm>
              <a:off x="6334125" y="5038725"/>
              <a:ext cx="3562722" cy="552831"/>
              <a:chOff x="6334125" y="5038725"/>
              <a:chExt cx="3562722" cy="552831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6334125" y="50387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424258" y="5109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5093018"/>
                <a:ext cx="31409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合う行だけ書き、操作ログに 1 行残す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6654" y="53568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書けた行は、未送信から外れる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6242304" y="58902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同じ値をもう一度送っても、二重には数えません。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594360" y="476250"/>
            <a:ext cx="10988040" cy="1228725"/>
            <a:chOff x="594360" y="47625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572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中身が変わった行は、未処理に戻ります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台帳に保存する入力の列が変わると、その行の印は初期状態へ戻ります。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2" name="shot-update-confirm"/>
          <p:cNvGrpSpPr/>
          <p:nvPr/>
        </p:nvGrpSpPr>
        <p:grpSpPr>
          <a:xfrm>
            <a:off x="603504" y="1866900"/>
            <a:ext cx="5340096" cy="1857756"/>
            <a:chOff x="603504" y="1866900"/>
            <a:chExt cx="5340096" cy="1857756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5029200" cy="1220152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34899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差があるときの「更新の確認」。［はい］で書き換えます。</a:t>
              </a:r>
            </a:p>
          </p:txBody>
        </p:sp>
      </p:grpSp>
      <p:grpSp>
        <p:nvGrpSpPr>
          <p:cNvPr id="29" name="what-we-did"/>
          <p:cNvGrpSpPr/>
          <p:nvPr/>
        </p:nvGrpSpPr>
        <p:grpSpPr>
          <a:xfrm>
            <a:off x="6240780" y="1876425"/>
            <a:ext cx="4404055" cy="1695831"/>
            <a:chOff x="6240780" y="1876425"/>
            <a:chExt cx="4404055" cy="1695831"/>
          </a:xfrm>
        </p:grpSpPr>
        <p:sp>
          <p:nvSpPr>
            <p:cNvPr id="13" name="TextBox 13"/>
            <p:cNvSpPr txBox="1"/>
            <p:nvPr/>
          </p:nvSpPr>
          <p:spPr>
            <a:xfrm>
              <a:off x="6240780" y="1876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撮影で行ったこと</a:t>
              </a:r>
            </a:p>
          </p:txBody>
        </p:sp>
        <p:grpSp>
          <p:nvGrpSpPr>
            <p:cNvPr id="18" name="did-marks"/>
            <p:cNvGrpSpPr/>
            <p:nvPr/>
          </p:nvGrpSpPr>
          <p:grpSpPr>
            <a:xfrm>
              <a:off x="6257925" y="2190750"/>
              <a:ext cx="209550" cy="1333500"/>
              <a:chOff x="6257925" y="2190750"/>
              <a:chExt cx="209550" cy="13335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6257925" y="2190750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6257925" y="2495550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257925" y="3009900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6257925" y="3314700"/>
                <a:ext cx="209550" cy="2095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23" name="did-mark-numbers"/>
            <p:cNvGrpSpPr/>
            <p:nvPr/>
          </p:nvGrpSpPr>
          <p:grpSpPr>
            <a:xfrm>
              <a:off x="6316551" y="2229802"/>
              <a:ext cx="92298" cy="1329309"/>
              <a:chOff x="6316551" y="2229802"/>
              <a:chExt cx="92298" cy="1329309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316551" y="22298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16551" y="25346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16551" y="30489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16551" y="33537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8" name="did-items"/>
            <p:cNvGrpSpPr/>
            <p:nvPr/>
          </p:nvGrpSpPr>
          <p:grpSpPr>
            <a:xfrm>
              <a:off x="6547104" y="2213610"/>
              <a:ext cx="4097731" cy="1358646"/>
              <a:chOff x="6547104" y="2213610"/>
              <a:chExt cx="4097731" cy="1358646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547104" y="2213610"/>
                <a:ext cx="403433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AA10000000AA と HD10000137FL を処理済にして送信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47104" y="2518410"/>
                <a:ext cx="33268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撮影用の写しの②で HD10000137FL の決済金額を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3055 → 3155 に変えた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47104" y="3032760"/>
                <a:ext cx="26130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［データ更新］→［実行］→［はい］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47104" y="3337560"/>
                <a:ext cx="40977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HD10000137FL だけ「未処理」に戻り、下の一覧に出た</a:t>
                </a:r>
              </a:p>
            </p:txBody>
          </p:sp>
        </p:grpSp>
      </p:grpSp>
      <p:grpSp>
        <p:nvGrpSpPr>
          <p:cNvPr id="34" name="shot-reset-list"/>
          <p:cNvGrpSpPr/>
          <p:nvPr/>
        </p:nvGrpSpPr>
        <p:grpSpPr>
          <a:xfrm>
            <a:off x="603504" y="3848100"/>
            <a:ext cx="10978896" cy="2314956"/>
            <a:chOff x="603504" y="3848100"/>
            <a:chExt cx="10978896" cy="2314956"/>
          </a:xfrm>
        </p:grpSpPr>
        <p:sp>
          <p:nvSpPr>
            <p:cNvPr id="30" name="Rectangle 30"/>
            <p:cNvSpPr/>
            <p:nvPr/>
          </p:nvSpPr>
          <p:spPr>
            <a:xfrm>
              <a:off x="609600" y="3848100"/>
              <a:ext cx="10972800" cy="1733550"/>
            </a:xfrm>
            <a:prstGeom prst="roundRect">
              <a:avLst>
                <a:gd name="adj" fmla="val 6593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4000500"/>
              <a:ext cx="10668000" cy="1425892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603504" y="56616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「台帳の更新」に、未処理に戻った行が並びます。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3504" y="5928360"/>
              <a:ext cx="9118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取消の列だけでなく、保存する列のどれが変わっても戻ります（設定 onSourceChange: reset。preserve なら戻さない）。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page-head"/>
          <p:cNvGrpSpPr/>
          <p:nvPr/>
        </p:nvGrpSpPr>
        <p:grpSpPr>
          <a:xfrm>
            <a:off x="384810" y="476250"/>
            <a:ext cx="11197590" cy="1228725"/>
            <a:chOff x="384810" y="476250"/>
            <a:chExt cx="1119759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81" y="53578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4810" y="8572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［データ削除］で処理済の行を消します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353979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削除の判定は、共有台帳に保存済みの状態で行います。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2" name="shot-delete-dialog"/>
          <p:cNvGrpSpPr/>
          <p:nvPr/>
        </p:nvGrpSpPr>
        <p:grpSpPr>
          <a:xfrm>
            <a:off x="603504" y="1866900"/>
            <a:ext cx="6025896" cy="4143756"/>
            <a:chOff x="603504" y="1866900"/>
            <a:chExt cx="6025896" cy="4143756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6019800" cy="3800475"/>
            </a:xfrm>
            <a:prstGeom prst="roundRect">
              <a:avLst>
                <a:gd name="adj" fmla="val 3008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19300"/>
              <a:ext cx="5715000" cy="3494722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775960"/>
              <a:ext cx="5690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「レコード削除」。処理内容の 4 段で対象を絞り、［削除する］で消します。</a:t>
              </a:r>
            </a:p>
          </p:txBody>
        </p:sp>
      </p:grpSp>
      <p:grpSp>
        <p:nvGrpSpPr>
          <p:cNvPr id="20" name="delete-condition"/>
          <p:cNvGrpSpPr/>
          <p:nvPr/>
        </p:nvGrpSpPr>
        <p:grpSpPr>
          <a:xfrm>
            <a:off x="6926580" y="1876425"/>
            <a:ext cx="3893820" cy="2495931"/>
            <a:chOff x="6926580" y="1876425"/>
            <a:chExt cx="3893820" cy="2495931"/>
          </a:xfrm>
        </p:grpSpPr>
        <p:sp>
          <p:nvSpPr>
            <p:cNvPr id="13" name="TextBox 13"/>
            <p:cNvSpPr txBox="1"/>
            <p:nvPr/>
          </p:nvSpPr>
          <p:spPr>
            <a:xfrm>
              <a:off x="6926580" y="18764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消えるのは、重なった行だけ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24700" y="2171700"/>
              <a:ext cx="2247900" cy="13716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572500" y="2171700"/>
              <a:ext cx="2247900" cy="1371600"/>
            </a:xfrm>
            <a:prstGeom prst="ellipse">
              <a:avLst/>
            </a:prstGeom>
            <a:solidFill>
              <a:schemeClr val="accent3">
                <a:alpha val="12000"/>
              </a:schemeClr>
            </a:solidFill>
            <a:ln w="14288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3894" y="2670810"/>
              <a:ext cx="5532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④の組と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47504" y="2670810"/>
              <a:ext cx="7741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保存済みで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処理済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83955" y="27784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削除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8104" y="3718560"/>
              <a:ext cx="329641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撮影では、送信済みの処理済 2 件のうち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HD10000137FL は未処理に戻っていたので、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削除は AA10000000AA の 1 件（100 → 99 件）。</a:t>
              </a:r>
            </a:p>
          </p:txBody>
        </p:sp>
      </p:grpSp>
      <p:grpSp>
        <p:nvGrpSpPr>
          <p:cNvPr id="25" name="delete-caution"/>
          <p:cNvGrpSpPr/>
          <p:nvPr/>
        </p:nvGrpSpPr>
        <p:grpSpPr>
          <a:xfrm>
            <a:off x="6934200" y="4514850"/>
            <a:ext cx="4648200" cy="1657350"/>
            <a:chOff x="6934200" y="4514850"/>
            <a:chExt cx="4648200" cy="1657350"/>
          </a:xfrm>
        </p:grpSpPr>
        <p:sp>
          <p:nvSpPr>
            <p:cNvPr id="21" name="Rectangle 21"/>
            <p:cNvSpPr/>
            <p:nvPr/>
          </p:nvSpPr>
          <p:spPr>
            <a:xfrm>
              <a:off x="6934200" y="4514850"/>
              <a:ext cx="4648200" cy="1657350"/>
            </a:xfrm>
            <a:prstGeom prst="roundRect">
              <a:avLst>
                <a:gd name="adj" fmla="val 689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34200" y="4514850"/>
              <a:ext cx="47625" cy="1657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56704" y="4690110"/>
              <a:ext cx="3212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手元で処理済にしただけでは、消えません。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送信して共有台帳に保存してから実行します。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56704" y="5299710"/>
              <a:ext cx="3822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消した行も、入力ファイルに残っていれば、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次の［データ更新］で再び追加されることがあります。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384810" y="704850"/>
            <a:ext cx="11197590" cy="904875"/>
            <a:chOff x="384810" y="704850"/>
            <a:chExt cx="1119759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384810" y="704850"/>
              <a:ext cx="66926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［帳票出力］で CSV に書き出します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台帳から、選んだ項目と、条件に合う行だけを書き出します。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9" name="shot-table-export"/>
          <p:cNvGrpSpPr/>
          <p:nvPr/>
        </p:nvGrpSpPr>
        <p:grpSpPr>
          <a:xfrm>
            <a:off x="609600" y="1790700"/>
            <a:ext cx="5067300" cy="4305300"/>
            <a:chOff x="609600" y="1790700"/>
            <a:chExt cx="5067300" cy="4305300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5067300" cy="4305300"/>
            </a:xfrm>
            <a:prstGeom prst="roundRect">
              <a:avLst>
                <a:gd name="adj" fmla="val 2655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943100"/>
              <a:ext cx="4762500" cy="4000500"/>
            </a:xfrm>
            <a:prstGeom prst="rect">
              <a:avLst/>
            </a:prstGeom>
          </p:spPr>
        </p:pic>
      </p:grpSp>
      <p:grpSp>
        <p:nvGrpSpPr>
          <p:cNvPr id="30" name="export-parts"/>
          <p:cNvGrpSpPr/>
          <p:nvPr/>
        </p:nvGrpSpPr>
        <p:grpSpPr>
          <a:xfrm>
            <a:off x="5981700" y="1790700"/>
            <a:ext cx="5600700" cy="4305681"/>
            <a:chOff x="5981700" y="1790700"/>
            <a:chExt cx="5600700" cy="4305681"/>
          </a:xfrm>
        </p:grpSpPr>
        <p:grpSp>
          <p:nvGrpSpPr>
            <p:cNvPr id="13" name="export-fields"/>
            <p:cNvGrpSpPr/>
            <p:nvPr/>
          </p:nvGrpSpPr>
          <p:grpSpPr>
            <a:xfrm>
              <a:off x="5981700" y="1790700"/>
              <a:ext cx="5600700" cy="876300"/>
              <a:chOff x="5981700" y="1790700"/>
              <a:chExt cx="5600700" cy="8763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981700" y="1790700"/>
                <a:ext cx="5600700" cy="876300"/>
              </a:xfrm>
              <a:prstGeom prst="roundRect">
                <a:avLst>
                  <a:gd name="adj" fmla="val 130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203442" y="18926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項目を選ぶ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204204" y="2156460"/>
                <a:ext cx="453847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「出力できる項目」から ▶ で右へ移します。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［既定に戻す］で設定の初期項目に戻ります（写真は 11 項目）。</a:t>
                </a:r>
              </a:p>
            </p:txBody>
          </p:sp>
        </p:grpSp>
        <p:grpSp>
          <p:nvGrpSpPr>
            <p:cNvPr id="17" name="export-filter"/>
            <p:cNvGrpSpPr/>
            <p:nvPr/>
          </p:nvGrpSpPr>
          <p:grpSpPr>
            <a:xfrm>
              <a:off x="5981700" y="2781300"/>
              <a:ext cx="5600700" cy="876300"/>
              <a:chOff x="5981700" y="2781300"/>
              <a:chExt cx="5600700" cy="8763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981700" y="2781300"/>
                <a:ext cx="5600700" cy="876300"/>
              </a:xfrm>
              <a:prstGeom prst="roundRect">
                <a:avLst>
                  <a:gd name="adj" fmla="val 130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203442" y="28832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絞り込む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204204" y="3147060"/>
                <a:ext cx="47365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項目・条件・値を選んで［追加］。すべてに一致する行だけ出ます。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条件は 含む / 等しい / 始まる / 含まない、数値と日付は範囲。</a:t>
                </a:r>
              </a:p>
            </p:txBody>
          </p:sp>
        </p:grpSp>
        <p:grpSp>
          <p:nvGrpSpPr>
            <p:cNvPr id="21" name="export-destination"/>
            <p:cNvGrpSpPr/>
            <p:nvPr/>
          </p:nvGrpSpPr>
          <p:grpSpPr>
            <a:xfrm>
              <a:off x="5981700" y="3771900"/>
              <a:ext cx="5600700" cy="876300"/>
              <a:chOff x="5981700" y="3771900"/>
              <a:chExt cx="5600700" cy="8763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981700" y="3771900"/>
                <a:ext cx="5600700" cy="876300"/>
              </a:xfrm>
              <a:prstGeom prst="roundRect">
                <a:avLst>
                  <a:gd name="adj" fmla="val 130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203442" y="38738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出力先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04204" y="4137660"/>
                <a:ext cx="461467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既定は output\export-日時.csv（同じ名前には上書きしない）。</a:t>
                </a:r>
                <a:br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撮影では 100 行・11 項目の CSV ができました。</a:t>
                </a:r>
              </a:p>
            </p:txBody>
          </p:sp>
        </p:grpSp>
        <p:grpSp>
          <p:nvGrpSpPr>
            <p:cNvPr id="25" name="export-excel"/>
            <p:cNvGrpSpPr/>
            <p:nvPr/>
          </p:nvGrpSpPr>
          <p:grpSpPr>
            <a:xfrm>
              <a:off x="5981700" y="4762500"/>
              <a:ext cx="5600700" cy="647700"/>
              <a:chOff x="5981700" y="4762500"/>
              <a:chExt cx="5600700" cy="6477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981700" y="4762500"/>
                <a:ext cx="5600700" cy="647700"/>
              </a:xfrm>
              <a:prstGeom prst="roundRect">
                <a:avLst>
                  <a:gd name="adj" fmla="val 1764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203442" y="4864418"/>
                <a:ext cx="14627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Excel 向けの設定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04204" y="5128260"/>
                <a:ext cx="43738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数式と読まれる値の先頭にアポストロフィ（既定でオン）。</a:t>
                </a:r>
              </a:p>
            </p:txBody>
          </p:sp>
        </p:grpSp>
        <p:grpSp>
          <p:nvGrpSpPr>
            <p:cNvPr id="29" name="export-scope"/>
            <p:cNvGrpSpPr/>
            <p:nvPr/>
          </p:nvGrpSpPr>
          <p:grpSpPr>
            <a:xfrm>
              <a:off x="5981700" y="5524500"/>
              <a:ext cx="5600700" cy="571881"/>
              <a:chOff x="5981700" y="5524500"/>
              <a:chExt cx="5600700" cy="571881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981700" y="5524500"/>
                <a:ext cx="56007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981700" y="5524500"/>
                <a:ext cx="47625" cy="571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204204" y="5633085"/>
                <a:ext cx="408127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出るのは、この PC に見えている台帳と未送信の状態です。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ほかの PC の未送信は含みません。</a:t>
                </a:r>
              </a:p>
            </p:txBody>
          </p:sp>
        </p:grpSp>
      </p:grpSp>
      <p:grpSp>
        <p:nvGrpSpPr>
          <p:cNvPr id="33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384810" y="704850"/>
            <a:ext cx="11197590" cy="904875"/>
            <a:chOff x="384810" y="704850"/>
            <a:chExt cx="1119759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384810" y="704850"/>
              <a:ext cx="85115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［設定］と、ほかのアプリからの自動読み取り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6003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画面から変えられるのは、場所・検索・監視の 3 つだけです。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shot-settings"/>
          <p:cNvGrpSpPr/>
          <p:nvPr/>
        </p:nvGrpSpPr>
        <p:grpSpPr>
          <a:xfrm>
            <a:off x="603504" y="1790700"/>
            <a:ext cx="5340096" cy="4334256"/>
            <a:chOff x="603504" y="1790700"/>
            <a:chExt cx="5340096" cy="4334256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5334000" cy="3790950"/>
            </a:xfrm>
            <a:prstGeom prst="roundRect">
              <a:avLst>
                <a:gd name="adj" fmla="val 3015"/>
              </a:avLst>
            </a:prstGeom>
            <a:solidFill>
              <a:srgbClr val="FAFBFC"/>
            </a:solidFill>
            <a:ln w="9525">
              <a:solidFill>
                <a:srgbClr val="E2E7EC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943100"/>
              <a:ext cx="5029200" cy="3483292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3504" y="5680710"/>
              <a:ext cx="389077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［OK］で settings.json の paths / search / watch を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書き直します（その部分のコメントは消えます）。</a:t>
              </a:r>
            </a:p>
          </p:txBody>
        </p:sp>
      </p:grpSp>
      <p:grpSp>
        <p:nvGrpSpPr>
          <p:cNvPr id="31" name="watch-flow"/>
          <p:cNvGrpSpPr/>
          <p:nvPr/>
        </p:nvGrpSpPr>
        <p:grpSpPr>
          <a:xfrm>
            <a:off x="6240780" y="1819275"/>
            <a:ext cx="5341620" cy="3228975"/>
            <a:chOff x="6240780" y="1819275"/>
            <a:chExt cx="5341620" cy="3228975"/>
          </a:xfrm>
        </p:grpSpPr>
        <p:sp>
          <p:nvSpPr>
            <p:cNvPr id="11" name="TextBox 11"/>
            <p:cNvSpPr txBox="1"/>
            <p:nvPr/>
          </p:nvSpPr>
          <p:spPr>
            <a:xfrm>
              <a:off x="6240780" y="18192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自動読み取りの流れ</a:t>
              </a:r>
            </a:p>
          </p:txBody>
        </p:sp>
        <p:grpSp>
          <p:nvGrpSpPr>
            <p:cNvPr id="15" name="watch-node-source"/>
            <p:cNvGrpSpPr/>
            <p:nvPr/>
          </p:nvGrpSpPr>
          <p:grpSpPr>
            <a:xfrm>
              <a:off x="6248400" y="2114550"/>
              <a:ext cx="5334000" cy="590550"/>
              <a:chOff x="6248400" y="2114550"/>
              <a:chExt cx="5334000" cy="5905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248400" y="2114550"/>
                <a:ext cx="5334000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470142" y="22164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ほかのアプリの入力欄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70904" y="246126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設定した監視対象（写真の設定はメモ帳の欄）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8915400" y="2724150"/>
              <a:ext cx="1" cy="152400"/>
            </a:xfrm>
            <a:prstGeom prst="line">
              <a:avLst/>
            </a:prstGeom>
            <a:noFill/>
            <a:ln w="19050">
              <a:solidFill>
                <a:srgbClr val="5D6B7A"/>
              </a:solidFill>
              <a:tailEnd type="triangle" w="lg" len="lg"/>
            </a:ln>
          </p:spPr>
        </p:sp>
        <p:grpSp>
          <p:nvGrpSpPr>
            <p:cNvPr id="20" name="watch-node-read"/>
            <p:cNvGrpSpPr/>
            <p:nvPr/>
          </p:nvGrpSpPr>
          <p:grpSpPr>
            <a:xfrm>
              <a:off x="6248400" y="2895600"/>
              <a:ext cx="5334000" cy="590550"/>
              <a:chOff x="6248400" y="2895600"/>
              <a:chExt cx="5334000" cy="5905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248400" y="2895600"/>
                <a:ext cx="5334000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470142" y="29975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値を読み取る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70904" y="3242310"/>
                <a:ext cx="44865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UI Automation で、一定の間隔で読む（写真の設定は 40ms）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8915400" y="3505200"/>
              <a:ext cx="1" cy="152400"/>
            </a:xfrm>
            <a:prstGeom prst="line">
              <a:avLst/>
            </a:prstGeom>
            <a:noFill/>
            <a:ln w="19050">
              <a:solidFill>
                <a:srgbClr val="5D6B7A"/>
              </a:solidFill>
              <a:tailEnd type="triangle" w="lg" len="lg"/>
            </a:ln>
          </p:spPr>
        </p:sp>
        <p:grpSp>
          <p:nvGrpSpPr>
            <p:cNvPr id="25" name="watch-node-search"/>
            <p:cNvGrpSpPr/>
            <p:nvPr/>
          </p:nvGrpSpPr>
          <p:grpSpPr>
            <a:xfrm>
              <a:off x="6248400" y="3676650"/>
              <a:ext cx="5334000" cy="590550"/>
              <a:chOff x="6248400" y="3676650"/>
              <a:chExt cx="5334000" cy="5905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248400" y="3676650"/>
                <a:ext cx="5334000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0142" y="3778568"/>
                <a:ext cx="32849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値が落ち着き、番号の形式に合えば検索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70904" y="4023360"/>
                <a:ext cx="30815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読取値に入れて、手入力と同じように探す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8915400" y="4286250"/>
              <a:ext cx="1" cy="152400"/>
            </a:xfrm>
            <a:prstGeom prst="line">
              <a:avLst/>
            </a:prstGeom>
            <a:noFill/>
            <a:ln w="19050">
              <a:solidFill>
                <a:srgbClr val="5D6B7A"/>
              </a:solidFill>
              <a:tailEnd type="triangle" w="lg" len="lg"/>
            </a:ln>
          </p:spPr>
        </p:sp>
        <p:grpSp>
          <p:nvGrpSpPr>
            <p:cNvPr id="30" name="watch-node-shown"/>
            <p:cNvGrpSpPr/>
            <p:nvPr/>
          </p:nvGrpSpPr>
          <p:grpSpPr>
            <a:xfrm>
              <a:off x="6248400" y="4457700"/>
              <a:ext cx="5334000" cy="590550"/>
              <a:chOff x="6248400" y="4457700"/>
              <a:chExt cx="5334000" cy="5905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48400" y="4457700"/>
                <a:ext cx="5334000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470142" y="4559618"/>
                <a:ext cx="10846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件なら表示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70904" y="4804410"/>
                <a:ext cx="29199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サンプル設定では、自動で処理済へ進む</a:t>
                </a:r>
              </a:p>
            </p:txBody>
          </p:sp>
        </p:grpSp>
      </p:grpSp>
      <p:grpSp>
        <p:nvGrpSpPr>
          <p:cNvPr id="36" name="watch-note"/>
          <p:cNvGrpSpPr/>
          <p:nvPr/>
        </p:nvGrpSpPr>
        <p:grpSpPr>
          <a:xfrm>
            <a:off x="6248400" y="5200650"/>
            <a:ext cx="5334000" cy="971550"/>
            <a:chOff x="6248400" y="5200650"/>
            <a:chExt cx="5334000" cy="971550"/>
          </a:xfrm>
        </p:grpSpPr>
        <p:sp>
          <p:nvSpPr>
            <p:cNvPr id="32" name="Rectangle 32"/>
            <p:cNvSpPr/>
            <p:nvPr/>
          </p:nvSpPr>
          <p:spPr>
            <a:xfrm>
              <a:off x="6248400" y="5200650"/>
              <a:ext cx="5334000" cy="97155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5200650"/>
              <a:ext cx="47625" cy="971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0904" y="5337810"/>
              <a:ext cx="44317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監視対象は［画面から選ぶ］で、対象の欄にカーソルを合わせて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Ctrl + Shift を押して登録します。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585216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自動読み取りの実演は、この本では撮っていません。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同梱サンプルで一通り使う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604235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複数の PC で同じ台帳を使います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61409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共有するのは台帳だけ。アプリと未送信の控えは PC ごとです。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33" name="share-diagram"/>
          <p:cNvGrpSpPr/>
          <p:nvPr/>
        </p:nvGrpSpPr>
        <p:grpSpPr>
          <a:xfrm>
            <a:off x="603504" y="1866900"/>
            <a:ext cx="10978896" cy="1972056"/>
            <a:chOff x="603504" y="1866900"/>
            <a:chExt cx="10978896" cy="1972056"/>
          </a:xfrm>
        </p:grpSpPr>
        <p:grpSp>
          <p:nvGrpSpPr>
            <p:cNvPr id="11" name="pc-a"/>
            <p:cNvGrpSpPr/>
            <p:nvPr/>
          </p:nvGrpSpPr>
          <p:grpSpPr>
            <a:xfrm>
              <a:off x="609600" y="1866900"/>
              <a:ext cx="2590800" cy="1524000"/>
              <a:chOff x="609600" y="1866900"/>
              <a:chExt cx="2590800" cy="1524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866900"/>
                <a:ext cx="2590800" cy="1524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19150" y="2028825"/>
                <a:ext cx="190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1450">
                    <a:moveTo>
                      <a:pt x="47625" y="171450"/>
                    </a:moveTo>
                    <a:cubicBezTo>
                      <a:pt x="42364" y="171450"/>
                      <a:pt x="38100" y="167186"/>
                      <a:pt x="38100" y="161925"/>
                    </a:cubicBezTo>
                    <a:cubicBezTo>
                      <a:pt x="38100" y="156664"/>
                      <a:pt x="42364" y="152400"/>
                      <a:pt x="47625" y="152400"/>
                    </a:cubicBezTo>
                    <a:lnTo>
                      <a:pt x="57150" y="152400"/>
                    </a:lnTo>
                    <a:lnTo>
                      <a:pt x="57150" y="133350"/>
                    </a:ln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71450" y="0"/>
                    </a:lnTo>
                    <a:cubicBezTo>
                      <a:pt x="181971" y="0"/>
                      <a:pt x="190500" y="8529"/>
                      <a:pt x="190500" y="19050"/>
                    </a:cubicBezTo>
                    <a:lnTo>
                      <a:pt x="190500" y="114300"/>
                    </a:lnTo>
                    <a:cubicBezTo>
                      <a:pt x="190500" y="124821"/>
                      <a:pt x="181971" y="133350"/>
                      <a:pt x="171450" y="133350"/>
                    </a:cubicBezTo>
                    <a:lnTo>
                      <a:pt x="133350" y="133350"/>
                    </a:lnTo>
                    <a:lnTo>
                      <a:pt x="133350" y="152400"/>
                    </a:lnTo>
                    <a:lnTo>
                      <a:pt x="142875" y="152400"/>
                    </a:lnTo>
                    <a:cubicBezTo>
                      <a:pt x="148136" y="152400"/>
                      <a:pt x="152400" y="156664"/>
                      <a:pt x="152400" y="161925"/>
                    </a:cubicBezTo>
                    <a:cubicBezTo>
                      <a:pt x="152400" y="167186"/>
                      <a:pt x="148136" y="171450"/>
                      <a:pt x="142875" y="171450"/>
                    </a:cubicBezTo>
                    <a:close/>
                    <a:moveTo>
                      <a:pt x="114300" y="133350"/>
                    </a:moveTo>
                    <a:lnTo>
                      <a:pt x="76200" y="133350"/>
                    </a:lnTo>
                    <a:lnTo>
                      <a:pt x="76200" y="152400"/>
                    </a:lnTo>
                    <a:lnTo>
                      <a:pt x="114300" y="152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98042" y="2045018"/>
                <a:ext cx="406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PC A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94004" y="2385060"/>
                <a:ext cx="194005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アプリ一式・settings.json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未送信の控え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処理ログ・feedback.log</a:t>
                </a:r>
              </a:p>
            </p:txBody>
          </p:sp>
        </p:grpSp>
        <p:grpSp>
          <p:nvGrpSpPr>
            <p:cNvPr id="16" name="shared-folder"/>
            <p:cNvGrpSpPr/>
            <p:nvPr/>
          </p:nvGrpSpPr>
          <p:grpSpPr>
            <a:xfrm>
              <a:off x="4191000" y="1866900"/>
              <a:ext cx="3810000" cy="1524000"/>
              <a:chOff x="4191000" y="1866900"/>
              <a:chExt cx="3810000" cy="1524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191000" y="1866900"/>
                <a:ext cx="3810000" cy="1524000"/>
              </a:xfrm>
              <a:prstGeom prst="roundRect">
                <a:avLst>
                  <a:gd name="adj" fmla="val 7500"/>
                </a:avLst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400549" y="2028825"/>
                <a:ext cx="190502" cy="161926"/>
              </a:xfrm>
              <a:custGeom>
                <a:avLst/>
                <a:gdLst/>
                <a:ahLst/>
                <a:cxnLst/>
                <a:rect l="l" t="t" r="r" b="b"/>
                <a:pathLst>
                  <a:path w="190502" h="161926">
                    <a:moveTo>
                      <a:pt x="66676" y="0"/>
                    </a:moveTo>
                    <a:cubicBezTo>
                      <a:pt x="68769" y="0"/>
                      <a:pt x="70805" y="690"/>
                      <a:pt x="72467" y="1962"/>
                    </a:cubicBezTo>
                    <a:lnTo>
                      <a:pt x="73420" y="2791"/>
                    </a:lnTo>
                    <a:lnTo>
                      <a:pt x="99194" y="28575"/>
                    </a:lnTo>
                    <a:lnTo>
                      <a:pt x="161926" y="28575"/>
                    </a:lnTo>
                    <a:cubicBezTo>
                      <a:pt x="177057" y="28574"/>
                      <a:pt x="189566" y="40369"/>
                      <a:pt x="190453" y="55474"/>
                    </a:cubicBezTo>
                    <a:lnTo>
                      <a:pt x="190501" y="57150"/>
                    </a:lnTo>
                    <a:lnTo>
                      <a:pt x="190501" y="133350"/>
                    </a:lnTo>
                    <a:cubicBezTo>
                      <a:pt x="190502" y="148481"/>
                      <a:pt x="178707" y="160990"/>
                      <a:pt x="163602" y="161878"/>
                    </a:cubicBezTo>
                    <a:lnTo>
                      <a:pt x="161926" y="161925"/>
                    </a:lnTo>
                    <a:lnTo>
                      <a:pt x="28576" y="161925"/>
                    </a:lnTo>
                    <a:cubicBezTo>
                      <a:pt x="13445" y="161926"/>
                      <a:pt x="936" y="150132"/>
                      <a:pt x="48" y="135027"/>
                    </a:cubicBezTo>
                    <a:lnTo>
                      <a:pt x="1" y="133350"/>
                    </a:lnTo>
                    <a:lnTo>
                      <a:pt x="1" y="28575"/>
                    </a:lnTo>
                    <a:cubicBezTo>
                      <a:pt x="0" y="13444"/>
                      <a:pt x="11794" y="935"/>
                      <a:pt x="26899" y="48"/>
                    </a:cubicBezTo>
                    <a:lnTo>
                      <a:pt x="28576" y="0"/>
                    </a:lnTo>
                    <a:lnTo>
                      <a:pt x="6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79442" y="2045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共有フォルダ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75404" y="2385060"/>
                <a:ext cx="248869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台帳（.xlsx）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.lock と .version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操作ログ-&lt;端末名&gt;.csv（PC ごと）</a:t>
                </a:r>
              </a:p>
            </p:txBody>
          </p:sp>
        </p:grpSp>
        <p:grpSp>
          <p:nvGrpSpPr>
            <p:cNvPr id="21" name="pc-b"/>
            <p:cNvGrpSpPr/>
            <p:nvPr/>
          </p:nvGrpSpPr>
          <p:grpSpPr>
            <a:xfrm>
              <a:off x="8991600" y="1866900"/>
              <a:ext cx="2590800" cy="1524000"/>
              <a:chOff x="8991600" y="1866900"/>
              <a:chExt cx="2590800" cy="1524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991600" y="1866900"/>
                <a:ext cx="2590800" cy="1524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01150" y="2028825"/>
                <a:ext cx="190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1450">
                    <a:moveTo>
                      <a:pt x="47625" y="171450"/>
                    </a:moveTo>
                    <a:cubicBezTo>
                      <a:pt x="42364" y="171450"/>
                      <a:pt x="38100" y="167186"/>
                      <a:pt x="38100" y="161925"/>
                    </a:cubicBezTo>
                    <a:cubicBezTo>
                      <a:pt x="38100" y="156664"/>
                      <a:pt x="42364" y="152400"/>
                      <a:pt x="47625" y="152400"/>
                    </a:cubicBezTo>
                    <a:lnTo>
                      <a:pt x="57150" y="152400"/>
                    </a:lnTo>
                    <a:lnTo>
                      <a:pt x="57150" y="133350"/>
                    </a:ln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71450" y="0"/>
                    </a:lnTo>
                    <a:cubicBezTo>
                      <a:pt x="181971" y="0"/>
                      <a:pt x="190500" y="8529"/>
                      <a:pt x="190500" y="19050"/>
                    </a:cubicBezTo>
                    <a:lnTo>
                      <a:pt x="190500" y="114300"/>
                    </a:lnTo>
                    <a:cubicBezTo>
                      <a:pt x="190500" y="124821"/>
                      <a:pt x="181971" y="133350"/>
                      <a:pt x="171450" y="133350"/>
                    </a:cubicBezTo>
                    <a:lnTo>
                      <a:pt x="133350" y="133350"/>
                    </a:lnTo>
                    <a:lnTo>
                      <a:pt x="133350" y="152400"/>
                    </a:lnTo>
                    <a:lnTo>
                      <a:pt x="142875" y="152400"/>
                    </a:lnTo>
                    <a:cubicBezTo>
                      <a:pt x="148136" y="152400"/>
                      <a:pt x="152400" y="156664"/>
                      <a:pt x="152400" y="161925"/>
                    </a:cubicBezTo>
                    <a:cubicBezTo>
                      <a:pt x="152400" y="167186"/>
                      <a:pt x="148136" y="171450"/>
                      <a:pt x="142875" y="171450"/>
                    </a:cubicBezTo>
                    <a:close/>
                    <a:moveTo>
                      <a:pt x="114300" y="133350"/>
                    </a:moveTo>
                    <a:lnTo>
                      <a:pt x="76200" y="133350"/>
                    </a:lnTo>
                    <a:lnTo>
                      <a:pt x="76200" y="152400"/>
                    </a:lnTo>
                    <a:lnTo>
                      <a:pt x="114300" y="152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480042" y="2045018"/>
                <a:ext cx="406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PC 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176004" y="2385060"/>
                <a:ext cx="194005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アプリ一式・settings.json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未送信の控え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処理ログ・feedback.log</a:t>
                </a:r>
              </a:p>
            </p:txBody>
          </p:sp>
        </p:grpSp>
        <p:grpSp>
          <p:nvGrpSpPr>
            <p:cNvPr id="26" name="links-a"/>
            <p:cNvGrpSpPr/>
            <p:nvPr/>
          </p:nvGrpSpPr>
          <p:grpSpPr>
            <a:xfrm>
              <a:off x="3276600" y="2240756"/>
              <a:ext cx="819150" cy="943928"/>
              <a:chOff x="3276600" y="2240756"/>
              <a:chExt cx="819150" cy="943928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3276600" y="245745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539211" y="224075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書く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 flipH="1">
                <a:off x="3295650" y="2876550"/>
                <a:ext cx="800100" cy="1"/>
              </a:xfrm>
              <a:prstGeom prst="line">
                <a:avLst/>
              </a:prstGeom>
              <a:noFill/>
              <a:ln w="19050">
                <a:solidFill>
                  <a:srgbClr val="5D6B7A"/>
                </a:solidFill>
                <a:tailEnd type="triangle" w="lg" len="lg"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388436" y="29646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読み直す</a:t>
                </a:r>
              </a:p>
            </p:txBody>
          </p:sp>
        </p:grpSp>
        <p:grpSp>
          <p:nvGrpSpPr>
            <p:cNvPr id="31" name="links-b"/>
            <p:cNvGrpSpPr/>
            <p:nvPr/>
          </p:nvGrpSpPr>
          <p:grpSpPr>
            <a:xfrm>
              <a:off x="8096250" y="2240756"/>
              <a:ext cx="819150" cy="943928"/>
              <a:chOff x="8096250" y="2240756"/>
              <a:chExt cx="819150" cy="943928"/>
            </a:xfrm>
          </p:grpSpPr>
          <p:sp>
            <p:nvSpPr>
              <p:cNvPr id="27" name="Line 27"/>
              <p:cNvSpPr/>
              <p:nvPr/>
            </p:nvSpPr>
            <p:spPr>
              <a:xfrm flipH="1">
                <a:off x="8096250" y="245745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339811" y="224075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書く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8096250" y="2876550"/>
                <a:ext cx="800100" cy="1"/>
              </a:xfrm>
              <a:prstGeom prst="line">
                <a:avLst/>
              </a:prstGeom>
              <a:noFill/>
              <a:ln w="19050">
                <a:solidFill>
                  <a:srgbClr val="5D6B7A"/>
                </a:solidFill>
                <a:tailEnd type="triangle" w="lg" len="lg"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89036" y="29646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読み直す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603504" y="3604260"/>
              <a:ext cx="794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書く = 送信・データ更新・データ削除（必ずロックの中で）　読み直す = ほかの PC が書いた変更を取り込む</a:t>
              </a:r>
            </a:p>
          </p:txBody>
        </p:sp>
      </p:grpSp>
      <p:grpSp>
        <p:nvGrpSpPr>
          <p:cNvPr id="46" name="share-rules"/>
          <p:cNvGrpSpPr/>
          <p:nvPr/>
        </p:nvGrpSpPr>
        <p:grpSpPr>
          <a:xfrm>
            <a:off x="652462" y="4140518"/>
            <a:ext cx="8151991" cy="1483233"/>
            <a:chOff x="652462" y="4140518"/>
            <a:chExt cx="8151991" cy="1483233"/>
          </a:xfrm>
        </p:grpSpPr>
        <p:grpSp>
          <p:nvGrpSpPr>
            <p:cNvPr id="39" name="rule-bullets"/>
            <p:cNvGrpSpPr/>
            <p:nvPr/>
          </p:nvGrpSpPr>
          <p:grpSpPr>
            <a:xfrm>
              <a:off x="652462" y="4195762"/>
              <a:ext cx="66675" cy="1285875"/>
              <a:chOff x="652462" y="4195762"/>
              <a:chExt cx="66675" cy="1285875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52462" y="4195762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52462" y="4500562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652462" y="4805362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52462" y="5110162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652462" y="5414962"/>
                <a:ext cx="66675" cy="666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45" name="rule-texts"/>
            <p:cNvGrpSpPr/>
            <p:nvPr/>
          </p:nvGrpSpPr>
          <p:grpSpPr>
            <a:xfrm>
              <a:off x="831342" y="4140518"/>
              <a:ext cx="7973111" cy="1483233"/>
              <a:chOff x="831342" y="4140518"/>
              <a:chExt cx="7973111" cy="1483233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831342" y="4140518"/>
                <a:ext cx="6769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 PC から同じパスで開きます。ドライブ文字と UNC の混在や、別名は避けます。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1342" y="4445318"/>
                <a:ext cx="58293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書くときは必ずロックを取り、最新の台帳を読み直してから書きます。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1342" y="4750118"/>
                <a:ext cx="65562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同じ行を別の状態へ送ると、後から送った側は上書きせず、未送信に残ります。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31342" y="5054918"/>
                <a:ext cx="79731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ほかの PC の変更は読み直して表示に反映。中身が変わっていれば、確かめてから切り替えます。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31342" y="5359718"/>
                <a:ext cx="55653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OneDrive などの同期コピーや、Excel での同時編集は</a:t>
                </a:r>
                <a:r>
                  <a:rPr lang="ja-JP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使いません</a:t>
                </a:r>
                <a:r>
                  <a:rPr lang="ja-JP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。</a:t>
                </a:r>
              </a:p>
            </p:txBody>
          </p:sp>
        </p:grpSp>
      </p:grpSp>
      <p:grpSp>
        <p:nvGrpSpPr>
          <p:cNvPr id="48" name="share-evidence"/>
          <p:cNvGrpSpPr/>
          <p:nvPr/>
        </p:nvGrpSpPr>
        <p:grpSpPr>
          <a:xfrm>
            <a:off x="604266" y="5887402"/>
            <a:ext cx="9000592" cy="205359"/>
            <a:chOff x="604266" y="5887402"/>
            <a:chExt cx="9000592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604266" y="5887402"/>
              <a:ext cx="9000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2026-09-09 に 2 台の実機から、試験用の共有へ同時に送信する試験をしています（docs/shared-ledger.md）。この本の撮影は 1 台です。</a:t>
              </a:r>
            </a:p>
          </p:txBody>
        </p:sp>
      </p:grpSp>
      <p:grpSp>
        <p:nvGrpSpPr>
          <p:cNvPr id="51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P20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26956" y="6325552"/>
              <a:ext cx="1960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複数の PC で使う・困ったとき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困ったとき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理由はダイアログかログに出ます。問い合わせには、ログを付けます。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1" name="trouble-start"/>
          <p:cNvGrpSpPr/>
          <p:nvPr/>
        </p:nvGrpSpPr>
        <p:grpSpPr>
          <a:xfrm>
            <a:off x="609600" y="1790700"/>
            <a:ext cx="5334000" cy="1219200"/>
            <a:chOff x="609600" y="1790700"/>
            <a:chExt cx="5334000" cy="1219200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5334000" cy="1219200"/>
            </a:xfrm>
            <a:prstGeom prst="roundRect">
              <a:avLst>
                <a:gd name="adj" fmla="val 9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7907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42" y="1968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起動しない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40431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WebView2 Runtime が入っているか確かめます。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ReaderDataViewer.cmd で起動すると、理由が読めます。</a:t>
              </a:r>
            </a:p>
          </p:txBody>
        </p:sp>
      </p:grpSp>
      <p:grpSp>
        <p:nvGrpSpPr>
          <p:cNvPr id="16" name="trouble-data"/>
          <p:cNvGrpSpPr/>
          <p:nvPr/>
        </p:nvGrpSpPr>
        <p:grpSpPr>
          <a:xfrm>
            <a:off x="6248400" y="1790700"/>
            <a:ext cx="5334000" cy="1219200"/>
            <a:chOff x="6248400" y="1790700"/>
            <a:chExt cx="5334000" cy="1219200"/>
          </a:xfrm>
        </p:grpSpPr>
        <p:sp>
          <p:nvSpPr>
            <p:cNvPr id="12" name="Rectangle 12"/>
            <p:cNvSpPr/>
            <p:nvPr/>
          </p:nvSpPr>
          <p:spPr>
            <a:xfrm>
              <a:off x="6248400" y="1790700"/>
              <a:ext cx="5334000" cy="1219200"/>
            </a:xfrm>
            <a:prstGeom prst="roundRect">
              <a:avLst>
                <a:gd name="adj" fmla="val 9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48400" y="17907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70142" y="19688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「データを読めません」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70904" y="2251710"/>
              <a:ext cx="3669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入力ファイルか設定に問題があり、続けられません。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表示された理由を直して、起動し直します。</a:t>
              </a:r>
            </a:p>
          </p:txBody>
        </p:sp>
      </p:grpSp>
      <p:grpSp>
        <p:nvGrpSpPr>
          <p:cNvPr id="21" name="trouble-running"/>
          <p:cNvGrpSpPr/>
          <p:nvPr/>
        </p:nvGrpSpPr>
        <p:grpSpPr>
          <a:xfrm>
            <a:off x="609600" y="3124200"/>
            <a:ext cx="5334000" cy="1219200"/>
            <a:chOff x="609600" y="3124200"/>
            <a:chExt cx="5334000" cy="1219200"/>
          </a:xfrm>
        </p:grpSpPr>
        <p:sp>
          <p:nvSpPr>
            <p:cNvPr id="17" name="Rectangle 17"/>
            <p:cNvSpPr/>
            <p:nvPr/>
          </p:nvSpPr>
          <p:spPr>
            <a:xfrm>
              <a:off x="609600" y="3124200"/>
              <a:ext cx="5334000" cy="1219200"/>
            </a:xfrm>
            <a:prstGeom prst="roundRect">
              <a:avLst>
                <a:gd name="adj" fmla="val 9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31242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342" y="3302318"/>
              <a:ext cx="2481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「…すでに起動しています。」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585210"/>
              <a:ext cx="36621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同じ統合台帳を開いている Reader Data Viewer が、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 PC ですでに動いています。</a:t>
              </a:r>
            </a:p>
          </p:txBody>
        </p:sp>
      </p:grpSp>
      <p:grpSp>
        <p:nvGrpSpPr>
          <p:cNvPr id="26" name="trouble-lock"/>
          <p:cNvGrpSpPr/>
          <p:nvPr/>
        </p:nvGrpSpPr>
        <p:grpSpPr>
          <a:xfrm>
            <a:off x="6248400" y="3124200"/>
            <a:ext cx="5334000" cy="1219200"/>
            <a:chOff x="6248400" y="3124200"/>
            <a:chExt cx="5334000" cy="1219200"/>
          </a:xfrm>
        </p:grpSpPr>
        <p:sp>
          <p:nvSpPr>
            <p:cNvPr id="22" name="Rectangle 22"/>
            <p:cNvSpPr/>
            <p:nvPr/>
          </p:nvSpPr>
          <p:spPr>
            <a:xfrm>
              <a:off x="6248400" y="3124200"/>
              <a:ext cx="5334000" cy="1219200"/>
            </a:xfrm>
            <a:prstGeom prst="roundRect">
              <a:avLst>
                <a:gd name="adj" fmla="val 9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48400" y="31242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70142" y="3302318"/>
              <a:ext cx="411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「…台帳を使用しています。空くまで待ちます。」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0904" y="3585210"/>
              <a:ext cx="3364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ほかの人が台帳を使っています（書き込み中）。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空くと、待っていた操作が続きます。</a:t>
              </a:r>
            </a:p>
          </p:txBody>
        </p:sp>
      </p:grpSp>
      <p:grpSp>
        <p:nvGrpSpPr>
          <p:cNvPr id="31" name="trouble-unmatched"/>
          <p:cNvGrpSpPr/>
          <p:nvPr/>
        </p:nvGrpSpPr>
        <p:grpSpPr>
          <a:xfrm>
            <a:off x="609600" y="4457700"/>
            <a:ext cx="5334000" cy="1219200"/>
            <a:chOff x="609600" y="4457700"/>
            <a:chExt cx="5334000" cy="1219200"/>
          </a:xfrm>
        </p:grpSpPr>
        <p:sp>
          <p:nvSpPr>
            <p:cNvPr id="27" name="Rectangle 27"/>
            <p:cNvSpPr/>
            <p:nvPr/>
          </p:nvSpPr>
          <p:spPr>
            <a:xfrm>
              <a:off x="609600" y="4457700"/>
              <a:ext cx="5334000" cy="1219200"/>
            </a:xfrm>
            <a:prstGeom prst="roundRect">
              <a:avLst>
                <a:gd name="adj" fmla="val 9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4577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635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「送信できなかったレコード」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918710"/>
              <a:ext cx="4126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行が無い・中身が変わった変更は、未送信に残ります。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［一覧の未送信変更を破棄］は、確認とバックアップ付き。</a:t>
              </a:r>
            </a:p>
          </p:txBody>
        </p:sp>
      </p:grpSp>
      <p:grpSp>
        <p:nvGrpSpPr>
          <p:cNvPr id="36" name="trouble-reset"/>
          <p:cNvGrpSpPr/>
          <p:nvPr/>
        </p:nvGrpSpPr>
        <p:grpSpPr>
          <a:xfrm>
            <a:off x="6248400" y="4457700"/>
            <a:ext cx="5334000" cy="1219200"/>
            <a:chOff x="6248400" y="4457700"/>
            <a:chExt cx="5334000" cy="1219200"/>
          </a:xfrm>
        </p:grpSpPr>
        <p:sp>
          <p:nvSpPr>
            <p:cNvPr id="32" name="Rectangle 32"/>
            <p:cNvSpPr/>
            <p:nvPr/>
          </p:nvSpPr>
          <p:spPr>
            <a:xfrm>
              <a:off x="6248400" y="4457700"/>
              <a:ext cx="5334000" cy="1219200"/>
            </a:xfrm>
            <a:prstGeom prst="roundRect">
              <a:avLst>
                <a:gd name="adj" fmla="val 9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44577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0142" y="46358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処理済にした行が、未処理に戻った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4918710"/>
              <a:ext cx="3212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保存する入力の列が変わった行です（P16）。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内容を確かめ直してから、印を付け直します。</a:t>
              </a:r>
            </a:p>
          </p:txBody>
        </p:sp>
      </p:grpSp>
      <p:grpSp>
        <p:nvGrpSpPr>
          <p:cNvPr id="40" name="contact-log"/>
          <p:cNvGrpSpPr/>
          <p:nvPr/>
        </p:nvGrpSpPr>
        <p:grpSpPr>
          <a:xfrm>
            <a:off x="609600" y="5810250"/>
            <a:ext cx="10972800" cy="361950"/>
            <a:chOff x="609600" y="5810250"/>
            <a:chExt cx="10972800" cy="361950"/>
          </a:xfrm>
        </p:grpSpPr>
        <p:sp>
          <p:nvSpPr>
            <p:cNvPr id="37" name="Rectangle 37"/>
            <p:cNvSpPr/>
            <p:nvPr/>
          </p:nvSpPr>
          <p:spPr>
            <a:xfrm>
              <a:off x="609600" y="5810250"/>
              <a:ext cx="109728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9463" y="5903913"/>
              <a:ext cx="174663" cy="175455"/>
            </a:xfrm>
            <a:custGeom>
              <a:avLst/>
              <a:gdLst/>
              <a:ahLst/>
              <a:cxnLst/>
              <a:rect l="l" t="t" r="r" b="b"/>
              <a:pathLst>
                <a:path w="174663" h="175455">
                  <a:moveTo>
                    <a:pt x="87313" y="0"/>
                  </a:moveTo>
                  <a:cubicBezTo>
                    <a:pt x="135535" y="0"/>
                    <a:pt x="174625" y="39090"/>
                    <a:pt x="174625" y="87313"/>
                  </a:cubicBezTo>
                  <a:cubicBezTo>
                    <a:pt x="174663" y="135009"/>
                    <a:pt x="136418" y="173910"/>
                    <a:pt x="88727" y="174683"/>
                  </a:cubicBezTo>
                  <a:cubicBezTo>
                    <a:pt x="41037" y="175455"/>
                    <a:pt x="1551" y="137814"/>
                    <a:pt x="44" y="90141"/>
                  </a:cubicBezTo>
                  <a:lnTo>
                    <a:pt x="0" y="87313"/>
                  </a:lnTo>
                  <a:lnTo>
                    <a:pt x="35" y="84868"/>
                  </a:lnTo>
                  <a:cubicBezTo>
                    <a:pt x="1327" y="37780"/>
                    <a:pt x="39902" y="0"/>
                    <a:pt x="87313" y="0"/>
                  </a:cubicBezTo>
                  <a:close/>
                  <a:moveTo>
                    <a:pt x="87313" y="113506"/>
                  </a:moveTo>
                  <a:cubicBezTo>
                    <a:pt x="82886" y="113507"/>
                    <a:pt x="79160" y="116820"/>
                    <a:pt x="78642" y="121216"/>
                  </a:cubicBezTo>
                  <a:lnTo>
                    <a:pt x="78581" y="122238"/>
                  </a:lnTo>
                  <a:lnTo>
                    <a:pt x="78642" y="123346"/>
                  </a:lnTo>
                  <a:cubicBezTo>
                    <a:pt x="79165" y="127739"/>
                    <a:pt x="82889" y="131046"/>
                    <a:pt x="87313" y="131046"/>
                  </a:cubicBezTo>
                  <a:cubicBezTo>
                    <a:pt x="91736" y="131046"/>
                    <a:pt x="95460" y="127739"/>
                    <a:pt x="95983" y="123346"/>
                  </a:cubicBezTo>
                  <a:lnTo>
                    <a:pt x="96044" y="122325"/>
                  </a:lnTo>
                  <a:lnTo>
                    <a:pt x="95983" y="121216"/>
                  </a:lnTo>
                  <a:cubicBezTo>
                    <a:pt x="95465" y="116820"/>
                    <a:pt x="91739" y="113507"/>
                    <a:pt x="87313" y="113506"/>
                  </a:cubicBezTo>
                  <a:close/>
                  <a:moveTo>
                    <a:pt x="99257" y="55243"/>
                  </a:moveTo>
                  <a:cubicBezTo>
                    <a:pt x="88495" y="49741"/>
                    <a:pt x="75363" y="52374"/>
                    <a:pt x="67554" y="61599"/>
                  </a:cubicBezTo>
                  <a:cubicBezTo>
                    <a:pt x="64552" y="65115"/>
                    <a:pt x="64812" y="70363"/>
                    <a:pt x="68146" y="73565"/>
                  </a:cubicBezTo>
                  <a:cubicBezTo>
                    <a:pt x="71481" y="76768"/>
                    <a:pt x="76734" y="76816"/>
                    <a:pt x="80127" y="73674"/>
                  </a:cubicBezTo>
                  <a:lnTo>
                    <a:pt x="81620" y="72103"/>
                  </a:lnTo>
                  <a:cubicBezTo>
                    <a:pt x="84258" y="69681"/>
                    <a:pt x="88125" y="69158"/>
                    <a:pt x="91311" y="70793"/>
                  </a:cubicBezTo>
                  <a:cubicBezTo>
                    <a:pt x="94756" y="72536"/>
                    <a:pt x="96646" y="76334"/>
                    <a:pt x="95962" y="80132"/>
                  </a:cubicBezTo>
                  <a:cubicBezTo>
                    <a:pt x="95277" y="83931"/>
                    <a:pt x="92179" y="86830"/>
                    <a:pt x="88343" y="87260"/>
                  </a:cubicBezTo>
                  <a:lnTo>
                    <a:pt x="86317" y="87365"/>
                  </a:lnTo>
                  <a:cubicBezTo>
                    <a:pt x="81706" y="87872"/>
                    <a:pt x="78296" y="91897"/>
                    <a:pt x="78554" y="96529"/>
                  </a:cubicBezTo>
                  <a:cubicBezTo>
                    <a:pt x="78812" y="101161"/>
                    <a:pt x="82647" y="104783"/>
                    <a:pt x="87286" y="104775"/>
                  </a:cubicBezTo>
                  <a:cubicBezTo>
                    <a:pt x="99412" y="104811"/>
                    <a:pt x="109977" y="96521"/>
                    <a:pt x="112826" y="84735"/>
                  </a:cubicBezTo>
                  <a:cubicBezTo>
                    <a:pt x="115674" y="72948"/>
                    <a:pt x="110061" y="60748"/>
                    <a:pt x="99257" y="552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60704" y="5918835"/>
              <a:ext cx="8955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問い合わせ: %LOCALAPPDATA%\ReaderDataViewer\logs\feedback.log の、その回の BEGIN から END までを渡します。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P21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26956" y="6325552"/>
              <a:ext cx="1960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複数の PC で使う・困ったとき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page-head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動作要件と、設定を変えるとき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239679"/>
              <a:ext cx="6428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設定を変える人は、窓を開く前に 2 つの検査を自分で実行します。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5" name="requirements"/>
          <p:cNvGrpSpPr/>
          <p:nvPr/>
        </p:nvGrpSpPr>
        <p:grpSpPr>
          <a:xfrm>
            <a:off x="601980" y="1800225"/>
            <a:ext cx="3512820" cy="3152775"/>
            <a:chOff x="601980" y="1800225"/>
            <a:chExt cx="3512820" cy="3152775"/>
          </a:xfrm>
        </p:grpSpPr>
        <p:sp>
          <p:nvSpPr>
            <p:cNvPr id="7" name="TextBox 7"/>
            <p:cNvSpPr txBox="1"/>
            <p:nvPr/>
          </p:nvSpPr>
          <p:spPr>
            <a:xfrm>
              <a:off x="601980" y="1800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動作要件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114550"/>
              <a:ext cx="3505200" cy="2838450"/>
            </a:xfrm>
            <a:prstGeom prst="roundRect">
              <a:avLst>
                <a:gd name="adj" fmla="val 40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42" y="2349818"/>
              <a:ext cx="16011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 ビット Windows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2711768"/>
              <a:ext cx="2115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 PowerShell 5.1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104" y="2956560"/>
              <a:ext cx="21046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（.NET Framework・WPF）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3321368"/>
              <a:ext cx="16048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WebView2 Runtime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6833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一式をフォルダーごと置く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4045268"/>
              <a:ext cx="2621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起動は ReaderDataViewer.vbs</a:t>
              </a:r>
            </a:p>
          </p:txBody>
        </p:sp>
      </p:grpSp>
      <p:grpSp>
        <p:nvGrpSpPr>
          <p:cNvPr id="25" name="settings-change"/>
          <p:cNvGrpSpPr/>
          <p:nvPr/>
        </p:nvGrpSpPr>
        <p:grpSpPr>
          <a:xfrm>
            <a:off x="4335780" y="1800225"/>
            <a:ext cx="3512820" cy="3152775"/>
            <a:chOff x="4335780" y="1800225"/>
            <a:chExt cx="3512820" cy="3152775"/>
          </a:xfrm>
        </p:grpSpPr>
        <p:sp>
          <p:nvSpPr>
            <p:cNvPr id="16" name="TextBox 16"/>
            <p:cNvSpPr txBox="1"/>
            <p:nvPr/>
          </p:nvSpPr>
          <p:spPr>
            <a:xfrm>
              <a:off x="4335780" y="18002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設定を変えるとき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43400" y="2114550"/>
              <a:ext cx="3505200" cy="2838450"/>
            </a:xfrm>
            <a:prstGeom prst="roundRect">
              <a:avLst>
                <a:gd name="adj" fmla="val 40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65142" y="2330768"/>
              <a:ext cx="1448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-ValidateOnly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904" y="2575560"/>
              <a:ext cx="229819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設定・入力の見出し・キー・型、</a:t>
              </a:r>
              <a:br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ジョブのつながりを検査する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（台帳は作らない）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5142" y="3359468"/>
              <a:ext cx="1240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-RunUpdate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5904" y="3604260"/>
              <a:ext cx="26029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更新ジョブを実行し、結果を JSON に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（共有台帳・未送信には書かない）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5142" y="4178618"/>
              <a:ext cx="2175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試験用に開いて操作する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5904" y="4423410"/>
              <a:ext cx="2330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ReaderDataViewer.vbs で起動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5904" y="4709160"/>
              <a:ext cx="29736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詳しくは README の「三段で確かめる」</a:t>
              </a:r>
            </a:p>
          </p:txBody>
        </p:sp>
      </p:grpSp>
      <p:grpSp>
        <p:nvGrpSpPr>
          <p:cNvPr id="34" name="mechanism"/>
          <p:cNvGrpSpPr/>
          <p:nvPr/>
        </p:nvGrpSpPr>
        <p:grpSpPr>
          <a:xfrm>
            <a:off x="8069580" y="1800225"/>
            <a:ext cx="3512820" cy="3152775"/>
            <a:chOff x="8069580" y="1800225"/>
            <a:chExt cx="3512820" cy="3152775"/>
          </a:xfrm>
        </p:grpSpPr>
        <p:sp>
          <p:nvSpPr>
            <p:cNvPr id="26" name="TextBox 26"/>
            <p:cNvSpPr txBox="1"/>
            <p:nvPr/>
          </p:nvSpPr>
          <p:spPr>
            <a:xfrm>
              <a:off x="8069580" y="1800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仕組みの要点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77200" y="2114550"/>
              <a:ext cx="3505200" cy="2838450"/>
            </a:xfrm>
            <a:prstGeom prst="roundRect">
              <a:avLst>
                <a:gd name="adj" fmla="val 4027"/>
              </a:avLst>
            </a:prstGeom>
            <a:noFill/>
            <a:ln w="9525">
              <a:solidFill>
                <a:srgbClr val="E2E7EC"/>
              </a:solidFill>
            </a:ln>
          </p:spPr>
        </p:sp>
        <p:grpSp>
          <p:nvGrpSpPr>
            <p:cNvPr id="33" name="mechanism-points"/>
            <p:cNvGrpSpPr/>
            <p:nvPr/>
          </p:nvGrpSpPr>
          <p:grpSpPr>
            <a:xfrm>
              <a:off x="8299704" y="2308860"/>
              <a:ext cx="2298192" cy="2577846"/>
              <a:chOff x="8299704" y="2308860"/>
              <a:chExt cx="2298192" cy="257784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299704" y="2308860"/>
                <a:ext cx="200101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台帳は LEDGER シート 1 枚。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書式や数式は残さない。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99704" y="2842260"/>
                <a:ext cx="19933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送信・更新・削除は、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同じ共有ロックの中で書く。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99704" y="3375660"/>
                <a:ext cx="210007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未送信は Windows ユーザーと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台帳ごとに、この PC に残る。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99704" y="3909060"/>
                <a:ext cx="18409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書き込みが確定するまで、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アプリは閉じない。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299704" y="4442460"/>
                <a:ext cx="229819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帳票出力は新しいファイルだけ。</a:t>
                </a:r>
                <a:br/>
                <a:r>
                  <a:rPr lang="ja-JP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入力・台帳・設定へは書かない。</a:t>
                </a:r>
              </a:p>
            </p:txBody>
          </p:sp>
        </p:grpSp>
      </p:grpSp>
      <p:grpSp>
        <p:nvGrpSpPr>
          <p:cNvPr id="39" name="closing"/>
          <p:cNvGrpSpPr/>
          <p:nvPr/>
        </p:nvGrpSpPr>
        <p:grpSpPr>
          <a:xfrm>
            <a:off x="609600" y="5143500"/>
            <a:ext cx="10972800" cy="990600"/>
            <a:chOff x="609600" y="5143500"/>
            <a:chExt cx="10972800" cy="990600"/>
          </a:xfrm>
        </p:grpSpPr>
        <p:sp>
          <p:nvSpPr>
            <p:cNvPr id="35" name="Rectangle 35"/>
            <p:cNvSpPr/>
            <p:nvPr/>
          </p:nvSpPr>
          <p:spPr>
            <a:xfrm>
              <a:off x="609600" y="5143500"/>
              <a:ext cx="10972800" cy="990600"/>
            </a:xfrm>
            <a:prstGeom prst="roundRect">
              <a:avLst>
                <a:gd name="adj" fmla="val 1153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514350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8680" y="5362575"/>
              <a:ext cx="32244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件ずつ確かめて、まとめて送る。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9442" y="5702618"/>
              <a:ext cx="9362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詳しい設定は README.md（三段で確かめる・全項目索引）、docs/settings.md、docs/shared-ledger.md へ。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P22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56168" y="6325552"/>
              <a:ext cx="2731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Reader Data Viewer（2026-09-10 の版）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anual-reader-data-viewer-opus">
  <a:themeElements>
    <a:clrScheme name="manual-reader-data-viewer-opus">
      <a:dk1>
        <a:srgbClr val="1F2A37"/>
      </a:dk1>
      <a:lt1>
        <a:srgbClr val="FFFFFF"/>
      </a:lt1>
      <a:dk2>
        <a:srgbClr val="1F2A37"/>
      </a:dk2>
      <a:lt2>
        <a:srgbClr val="F2F6FB"/>
      </a:lt2>
      <a:accent1>
        <a:srgbClr val="24507F"/>
      </a:accent1>
      <a:accent2>
        <a:srgbClr val="C05B21"/>
      </a:accent2>
      <a:accent3>
        <a:srgbClr val="2B5C96"/>
      </a:accent3>
      <a:accent4>
        <a:srgbClr val="24507F"/>
      </a:accent4>
      <a:accent5>
        <a:srgbClr val="5D6B7A"/>
      </a:accent5>
      <a:accent6>
        <a:srgbClr val="CFD7DE"/>
      </a:accent6>
      <a:hlink>
        <a:srgbClr val="C05B21"/>
      </a:hlink>
      <a:folHlink>
        <a:srgbClr val="2B5C96"/>
      </a:folHlink>
    </a:clrScheme>
    <a:fontScheme name="manual-reader-data-viewer-opus">
      <a:majorFont>
        <a:latin typeface="Segoe UI"/>
        <a:ea typeface="Yu Gothic UI"/>
        <a:cs typeface="Segoe UI"/>
        <a:font script="Jpan" typeface="Yu Gothic UI"/>
        <a:font script="Hang" typeface="Yu Gothic UI"/>
        <a:font script="Hans" typeface="Yu Gothic UI"/>
        <a:font script="Hant" typeface="Yu Gothic U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Yu Gothic UI"/>
        <a:cs typeface="Segoe UI"/>
        <a:font script="Jpan" typeface="Yu Gothic UI"/>
        <a:font script="Hang" typeface="Yu Gothic UI"/>
        <a:font script="Hans" typeface="Yu Gothic UI"/>
        <a:font script="Hant" typeface="Yu Gothic U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nual-reader-data-viewer-o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ja-JP</dc:language>
  <cp:lastModifiedBy/>
  <cp:revision>1</cp:revision>
  <dcterms:created xsi:type="dcterms:W3CDTF">2026-09-15T00:39:47Z</dcterms:created>
  <dcterms:modified xsi:type="dcterms:W3CDTF">2026-09-15T00:39:47Z</dcterms:modified>
  <cp:category/>
  <cp:contentStatus/>
</cp:coreProperties>
</file>