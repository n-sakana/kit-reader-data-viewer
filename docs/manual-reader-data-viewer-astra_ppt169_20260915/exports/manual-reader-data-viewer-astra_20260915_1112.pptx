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nual-reader-data-viewer-astr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nual-reader-data-viewer-astr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65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7885fed187e139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4ffc0343609b57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a66ea43e945b18c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7885fed187e139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7885fed187e139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b74bef46e83e671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cbe12b180d75126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995b6db2f66d34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0a67c6b9bf0515c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74ce9552513842e.png"/>
  <Relationship Id="rId3" Type="http://schemas.openxmlformats.org/officeDocument/2006/relationships/image" Target="../media/image_789122fe3198284e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85ff60e306353e9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09a416a9795d439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5b71ce03adfff4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455851197b7764f.pn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ea9bfd74d008682.pn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8d87cf5cb25b0a.pn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e475d253b51c9bc.pn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d75576a3f7db939.pn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field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9" name="cover-message"/>
          <p:cNvGrpSpPr/>
          <p:nvPr/>
        </p:nvGrpSpPr>
        <p:grpSpPr>
          <a:xfrm>
            <a:off x="590550" y="717232"/>
            <a:ext cx="4667250" cy="4849369"/>
            <a:chOff x="590550" y="717232"/>
            <a:chExt cx="4667250" cy="4849369"/>
          </a:xfrm>
        </p:grpSpPr>
        <p:sp>
          <p:nvSpPr>
            <p:cNvPr id="3" name="TextBox 3"/>
            <p:cNvSpPr txBox="1"/>
            <p:nvPr/>
          </p:nvSpPr>
          <p:spPr>
            <a:xfrm>
              <a:off x="601218" y="717232"/>
              <a:ext cx="22206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Reader Data Viewer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19200"/>
              <a:ext cx="685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0550" y="1829752"/>
              <a:ext cx="46672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550"/>
                </a:lnSpc>
              </a:pPr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データをまとめて、</a:t>
              </a:r>
              <a:br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1件ずつ確かめる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349091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操作マニュアル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4098608"/>
              <a:ext cx="39982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起動から検索・確認・送信・削除まで。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同梱サンプルで、基本の一周を試します。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53025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従来版・架空サンプルの画面で説明</a:t>
              </a:r>
            </a:p>
          </p:txBody>
        </p:sp>
      </p:grpSp>
      <p:grpSp>
        <p:nvGrpSpPr>
          <p:cNvPr id="12" name="cover-screen"/>
          <p:cNvGrpSpPr/>
          <p:nvPr/>
        </p:nvGrpSpPr>
        <p:grpSpPr>
          <a:xfrm>
            <a:off x="6261354" y="1371600"/>
            <a:ext cx="5321046" cy="4896231"/>
            <a:chOff x="6261354" y="1371600"/>
            <a:chExt cx="5321046" cy="489623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7450" y="1371600"/>
              <a:ext cx="5314950" cy="457295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261354" y="60331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実際のアプリ画面（内容領域）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604266" y="63827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2026年9月15日　対象：従来版 adcba63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703820" cy="922972"/>
            <a:chOff x="594360" y="406718"/>
            <a:chExt cx="77038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はじめに　／　アプリの役割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入力を台帳にまとめ、確認結果を共有する</a:t>
              </a:r>
            </a:p>
          </p:txBody>
        </p:sp>
      </p:grpSp>
      <p:grpSp>
        <p:nvGrpSpPr>
          <p:cNvPr id="31" name="workflow"/>
          <p:cNvGrpSpPr/>
          <p:nvPr/>
        </p:nvGrpSpPr>
        <p:grpSpPr>
          <a:xfrm>
            <a:off x="609600" y="1847850"/>
            <a:ext cx="10972800" cy="2114550"/>
            <a:chOff x="609600" y="1847850"/>
            <a:chExt cx="10972800" cy="2114550"/>
          </a:xfrm>
        </p:grpSpPr>
        <p:sp>
          <p:nvSpPr>
            <p:cNvPr id="5" name="Line 5"/>
            <p:cNvSpPr/>
            <p:nvPr/>
          </p:nvSpPr>
          <p:spPr>
            <a:xfrm>
              <a:off x="1571625" y="2171700"/>
              <a:ext cx="8905875" cy="9525"/>
            </a:xfrm>
            <a:custGeom>
              <a:avLst/>
              <a:gdLst/>
              <a:ahLst/>
              <a:cxnLst/>
              <a:rect l="l" t="t" r="r" b="b"/>
              <a:pathLst>
                <a:path w="8905875" h="9525">
                  <a:moveTo>
                    <a:pt x="0" y="0"/>
                  </a:moveTo>
                  <a:lnTo>
                    <a:pt x="89058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0" name="input-stage"/>
            <p:cNvGrpSpPr/>
            <p:nvPr/>
          </p:nvGrpSpPr>
          <p:grpSpPr>
            <a:xfrm>
              <a:off x="609600" y="1847850"/>
              <a:ext cx="1924050" cy="2114550"/>
              <a:chOff x="609600" y="1847850"/>
              <a:chExt cx="1924050" cy="21145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847850"/>
                <a:ext cx="1924050" cy="2114550"/>
              </a:xfrm>
              <a:prstGeom prst="roundRect">
                <a:avLst>
                  <a:gd name="adj" fmla="val 594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28294" y="20278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28294" y="251364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入力ファイル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29818" y="3022282"/>
                <a:ext cx="14836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CSV / XLSX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業務の元データ</a:t>
                </a:r>
              </a:p>
            </p:txBody>
          </p:sp>
        </p:grpSp>
        <p:grpSp>
          <p:nvGrpSpPr>
            <p:cNvPr id="15" name="update-stage"/>
            <p:cNvGrpSpPr/>
            <p:nvPr/>
          </p:nvGrpSpPr>
          <p:grpSpPr>
            <a:xfrm>
              <a:off x="2857500" y="1847850"/>
              <a:ext cx="1924050" cy="2114550"/>
              <a:chOff x="2857500" y="1847850"/>
              <a:chExt cx="1924050" cy="21145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2857500" y="1847850"/>
                <a:ext cx="1924050" cy="2114550"/>
              </a:xfrm>
              <a:prstGeom prst="roundRect">
                <a:avLst>
                  <a:gd name="adj" fmla="val 594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76194" y="20278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076194" y="25136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データ更新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77718" y="3022282"/>
                <a:ext cx="14836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結合・抽出など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設定した処理</a:t>
                </a:r>
              </a:p>
            </p:txBody>
          </p:sp>
        </p:grpSp>
        <p:grpSp>
          <p:nvGrpSpPr>
            <p:cNvPr id="20" name="ledger-stage"/>
            <p:cNvGrpSpPr/>
            <p:nvPr/>
          </p:nvGrpSpPr>
          <p:grpSpPr>
            <a:xfrm>
              <a:off x="5105400" y="1847850"/>
              <a:ext cx="1924050" cy="2114550"/>
              <a:chOff x="5105400" y="1847850"/>
              <a:chExt cx="1924050" cy="2114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105400" y="1847850"/>
                <a:ext cx="1924050" cy="2114550"/>
              </a:xfrm>
              <a:prstGeom prst="roundRect">
                <a:avLst>
                  <a:gd name="adj" fmla="val 594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324094" y="20278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24094" y="251364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統合台帳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25618" y="3022282"/>
                <a:ext cx="14836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情報を蓄積する</a:t>
                </a:r>
                <a:br/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1つのExcel</a:t>
                </a:r>
              </a:p>
            </p:txBody>
          </p:sp>
        </p:grpSp>
        <p:grpSp>
          <p:nvGrpSpPr>
            <p:cNvPr id="25" name="review-stage"/>
            <p:cNvGrpSpPr/>
            <p:nvPr/>
          </p:nvGrpSpPr>
          <p:grpSpPr>
            <a:xfrm>
              <a:off x="7353300" y="1847850"/>
              <a:ext cx="1924050" cy="2114550"/>
              <a:chOff x="7353300" y="1847850"/>
              <a:chExt cx="1924050" cy="21145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353300" y="1847850"/>
                <a:ext cx="1924050" cy="2114550"/>
              </a:xfrm>
              <a:prstGeom prst="roundRect">
                <a:avLst>
                  <a:gd name="adj" fmla="val 594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571994" y="20278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71994" y="2513648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検索・確認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573518" y="3022282"/>
                <a:ext cx="127406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1件ずつ見て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状態を付ける</a:t>
                </a:r>
              </a:p>
            </p:txBody>
          </p:sp>
        </p:grpSp>
        <p:grpSp>
          <p:nvGrpSpPr>
            <p:cNvPr id="30" name="send-stage"/>
            <p:cNvGrpSpPr/>
            <p:nvPr/>
          </p:nvGrpSpPr>
          <p:grpSpPr>
            <a:xfrm>
              <a:off x="9601200" y="1847850"/>
              <a:ext cx="1981200" cy="2114550"/>
              <a:chOff x="9601200" y="1847850"/>
              <a:chExt cx="1981200" cy="2114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601200" y="1847850"/>
                <a:ext cx="1981200" cy="2114550"/>
              </a:xfrm>
              <a:prstGeom prst="roundRect">
                <a:avLst>
                  <a:gd name="adj" fmla="val 576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819894" y="20278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819894" y="2513648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まとめて送信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821418" y="3022282"/>
                <a:ext cx="14836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確認した状態を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共有台帳へ反映</a:t>
                </a:r>
              </a:p>
            </p:txBody>
          </p:sp>
        </p:grpSp>
      </p:grpSp>
      <p:grpSp>
        <p:nvGrpSpPr>
          <p:cNvPr id="34" name="two-operations"/>
          <p:cNvGrpSpPr/>
          <p:nvPr/>
        </p:nvGrpSpPr>
        <p:grpSpPr>
          <a:xfrm>
            <a:off x="598170" y="4643438"/>
            <a:ext cx="8201025" cy="1225677"/>
            <a:chOff x="598170" y="4643438"/>
            <a:chExt cx="8201025" cy="1225677"/>
          </a:xfrm>
        </p:grpSpPr>
        <p:sp>
          <p:nvSpPr>
            <p:cNvPr id="32" name="TextBox 32"/>
            <p:cNvSpPr txBox="1"/>
            <p:nvPr/>
          </p:nvSpPr>
          <p:spPr>
            <a:xfrm>
              <a:off x="598170" y="4643438"/>
              <a:ext cx="82010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「元データを更新する」と「確認状態を送る」は別の操作。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" y="5222558"/>
              <a:ext cx="60937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どの表を結び、何を表示するかは設定で変えられます。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この説明書では、同梱された業務サンプルの使い方を追います。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382702"/>
              <a:ext cx="4349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出典：README「まずこの設定を写して」「台帳の更新と確認状態」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321609" cy="922972"/>
            <a:chOff x="594360" y="406718"/>
            <a:chExt cx="6321609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この説明書の読み方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3216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まず1件を送り、次に運用を覚える</a:t>
              </a:r>
            </a:p>
          </p:txBody>
        </p:sp>
      </p:grpSp>
      <p:grpSp>
        <p:nvGrpSpPr>
          <p:cNvPr id="10" name="chapter-one"/>
          <p:cNvGrpSpPr/>
          <p:nvPr/>
        </p:nvGrpSpPr>
        <p:grpSpPr>
          <a:xfrm>
            <a:off x="609600" y="1695450"/>
            <a:ext cx="3400425" cy="3190875"/>
            <a:chOff x="609600" y="1695450"/>
            <a:chExt cx="3400425" cy="3190875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400425" cy="3190875"/>
            </a:xfrm>
            <a:prstGeom prst="roundRect">
              <a:avLst>
                <a:gd name="adj" fmla="val 35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7250" y="188690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4870" y="2681288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準備と台帳作成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918" y="3308032"/>
              <a:ext cx="23218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ZIPを展開する。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サンプルの台帳を作り、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主画面の見方を覚える。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442" y="444531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P04–07</a:t>
              </a:r>
            </a:p>
          </p:txBody>
        </p:sp>
      </p:grpSp>
      <p:grpSp>
        <p:nvGrpSpPr>
          <p:cNvPr id="16" name="chapter-two"/>
          <p:cNvGrpSpPr/>
          <p:nvPr/>
        </p:nvGrpSpPr>
        <p:grpSpPr>
          <a:xfrm>
            <a:off x="4391025" y="1695450"/>
            <a:ext cx="3400425" cy="3190875"/>
            <a:chOff x="4391025" y="1695450"/>
            <a:chExt cx="3400425" cy="3190875"/>
          </a:xfrm>
        </p:grpSpPr>
        <p:sp>
          <p:nvSpPr>
            <p:cNvPr id="11" name="Rectangle 11"/>
            <p:cNvSpPr/>
            <p:nvPr/>
          </p:nvSpPr>
          <p:spPr>
            <a:xfrm>
              <a:off x="4391025" y="1695450"/>
              <a:ext cx="3400425" cy="3190875"/>
            </a:xfrm>
            <a:prstGeom prst="roundRect">
              <a:avLst>
                <a:gd name="adj" fmla="val 35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38675" y="188690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6295" y="2681288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検索・確認・送信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9343" y="3308032"/>
              <a:ext cx="25313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対象を探し、内容を見る。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状態を付けて共有し、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必要な一覧を出力する。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0867" y="444531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P08–16</a:t>
              </a:r>
            </a:p>
          </p:txBody>
        </p:sp>
      </p:grpSp>
      <p:grpSp>
        <p:nvGrpSpPr>
          <p:cNvPr id="22" name="chapter-three"/>
          <p:cNvGrpSpPr/>
          <p:nvPr/>
        </p:nvGrpSpPr>
        <p:grpSpPr>
          <a:xfrm>
            <a:off x="8172450" y="1695450"/>
            <a:ext cx="3409950" cy="3190875"/>
            <a:chOff x="8172450" y="1695450"/>
            <a:chExt cx="3409950" cy="3190875"/>
          </a:xfrm>
        </p:grpSpPr>
        <p:sp>
          <p:nvSpPr>
            <p:cNvPr id="17" name="Rectangle 17"/>
            <p:cNvSpPr/>
            <p:nvPr/>
          </p:nvSpPr>
          <p:spPr>
            <a:xfrm>
              <a:off x="8172450" y="1695450"/>
              <a:ext cx="3409950" cy="3190875"/>
            </a:xfrm>
            <a:prstGeom prst="roundRect">
              <a:avLst>
                <a:gd name="adj" fmla="val 35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0100" y="188690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7720" y="2681288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更新・削除・共有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0768" y="3308032"/>
              <a:ext cx="27409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入力を更新する。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削除と複数PCの仕組み、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困ったときの伝え方を知る。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2292" y="444531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P17–24</a:t>
              </a:r>
            </a:p>
          </p:txBody>
        </p:sp>
      </p:grpSp>
      <p:grpSp>
        <p:nvGrpSpPr>
          <p:cNvPr id="25" name="scope-note"/>
          <p:cNvGrpSpPr/>
          <p:nvPr/>
        </p:nvGrpSpPr>
        <p:grpSpPr>
          <a:xfrm>
            <a:off x="601218" y="5355908"/>
            <a:ext cx="8235315" cy="639317"/>
            <a:chOff x="601218" y="5355908"/>
            <a:chExt cx="8235315" cy="639317"/>
          </a:xfrm>
        </p:grpSpPr>
        <p:sp>
          <p:nvSpPr>
            <p:cNvPr id="23" name="TextBox 23"/>
            <p:cNvSpPr txBox="1"/>
            <p:nvPr/>
          </p:nvSpPr>
          <p:spPr>
            <a:xfrm>
              <a:off x="601218" y="5355908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画面・番号・氏名は架空の同梱サンプルです。実運用の表示は設定で変わります。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5731192"/>
              <a:ext cx="6683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対象は従来版。細かな設定の書き方は、リポジトリのREADMEへ進んでください。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3827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本書の構成　／　操作は同梱サンプルで確認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715658" cy="922972"/>
            <a:chOff x="594360" y="406718"/>
            <a:chExt cx="6715658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準備と台帳作成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7156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ZIPを空のフォルダへ展開して始める</a:t>
              </a:r>
            </a:p>
          </p:txBody>
        </p:sp>
      </p:grpSp>
      <p:grpSp>
        <p:nvGrpSpPr>
          <p:cNvPr id="12" name="prepare-steps"/>
          <p:cNvGrpSpPr/>
          <p:nvPr/>
        </p:nvGrpSpPr>
        <p:grpSpPr>
          <a:xfrm>
            <a:off x="598170" y="1728788"/>
            <a:ext cx="4263390" cy="4114037"/>
            <a:chOff x="598170" y="1728788"/>
            <a:chExt cx="4263390" cy="411403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728788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配布されたサンプル一式を使う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2393632"/>
              <a:ext cx="3577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空のフォルダへZIPを展開する。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888932"/>
              <a:ext cx="4259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設定と入力4本があることを確認する。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3384232"/>
              <a:ext cx="37035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ReaderDataViewer.vbsを開く。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4178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必要な環境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4536758"/>
              <a:ext cx="408203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64bit / Windows PowerShell 5.1</a:t>
              </a:r>
              <a:br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WPF / WebView2 Runtime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5578792"/>
              <a:ext cx="395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固定版と従来版のJSONは混ぜないでください。</a:t>
              </a:r>
            </a:p>
          </p:txBody>
        </p:sp>
      </p:grpSp>
      <p:grpSp>
        <p:nvGrpSpPr>
          <p:cNvPr id="32" name="folder-contents"/>
          <p:cNvGrpSpPr/>
          <p:nvPr/>
        </p:nvGrpSpPr>
        <p:grpSpPr>
          <a:xfrm>
            <a:off x="6096000" y="1657350"/>
            <a:ext cx="5486400" cy="4076700"/>
            <a:chOff x="6096000" y="1657350"/>
            <a:chExt cx="5486400" cy="4076700"/>
          </a:xfrm>
        </p:grpSpPr>
        <p:sp>
          <p:nvSpPr>
            <p:cNvPr id="13" name="Rectangle 13"/>
            <p:cNvSpPr/>
            <p:nvPr/>
          </p:nvSpPr>
          <p:spPr>
            <a:xfrm>
              <a:off x="6096000" y="1657350"/>
              <a:ext cx="5486400" cy="4076700"/>
            </a:xfrm>
            <a:prstGeom prst="roundRect">
              <a:avLst>
                <a:gd name="adj" fmla="val 28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9944" y="1884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展開したフォルダ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572250" y="2457450"/>
              <a:ext cx="9525" cy="2705100"/>
            </a:xfrm>
            <a:custGeom>
              <a:avLst/>
              <a:gdLst/>
              <a:ahLst/>
              <a:cxnLst/>
              <a:rect l="l" t="t" r="r" b="b"/>
              <a:pathLst>
                <a:path w="9525" h="2705100">
                  <a:moveTo>
                    <a:pt x="0" y="0"/>
                  </a:moveTo>
                  <a:lnTo>
                    <a:pt x="0" y="27051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9" name="launcher"/>
            <p:cNvGrpSpPr/>
            <p:nvPr/>
          </p:nvGrpSpPr>
          <p:grpSpPr>
            <a:xfrm>
              <a:off x="6572250" y="2565082"/>
              <a:ext cx="2927966" cy="591693"/>
              <a:chOff x="6572250" y="2565082"/>
              <a:chExt cx="2927966" cy="591693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6572250" y="26670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906768" y="2565082"/>
                <a:ext cx="25934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ReaderDataViewer.vbs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908292" y="2892742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起動するファイル</a:t>
                </a:r>
              </a:p>
            </p:txBody>
          </p:sp>
        </p:grpSp>
        <p:grpSp>
          <p:nvGrpSpPr>
            <p:cNvPr id="23" name="config"/>
            <p:cNvGrpSpPr/>
            <p:nvPr/>
          </p:nvGrpSpPr>
          <p:grpSpPr>
            <a:xfrm>
              <a:off x="6572250" y="3355658"/>
              <a:ext cx="1902256" cy="591693"/>
              <a:chOff x="6572250" y="3355658"/>
              <a:chExt cx="1902256" cy="591693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6572250" y="34575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06768" y="3355658"/>
                <a:ext cx="15677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settings.json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0829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サンプル用の設定</a:t>
                </a:r>
              </a:p>
            </p:txBody>
          </p:sp>
        </p:grpSp>
        <p:grpSp>
          <p:nvGrpSpPr>
            <p:cNvPr id="27" name="data"/>
            <p:cNvGrpSpPr/>
            <p:nvPr/>
          </p:nvGrpSpPr>
          <p:grpSpPr>
            <a:xfrm>
              <a:off x="6572250" y="4146232"/>
              <a:ext cx="2566949" cy="591693"/>
              <a:chOff x="6572250" y="4146232"/>
              <a:chExt cx="2566949" cy="591693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572250" y="424815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906768" y="4146232"/>
                <a:ext cx="5298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data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908292" y="4473892"/>
                <a:ext cx="22309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①・②・③・④の入力ファイル</a:t>
                </a:r>
              </a:p>
            </p:txBody>
          </p:sp>
        </p:grpSp>
        <p:grpSp>
          <p:nvGrpSpPr>
            <p:cNvPr id="31" name="program"/>
            <p:cNvGrpSpPr/>
            <p:nvPr/>
          </p:nvGrpSpPr>
          <p:grpSpPr>
            <a:xfrm>
              <a:off x="6572250" y="4993958"/>
              <a:ext cx="2712339" cy="591693"/>
              <a:chOff x="6572250" y="4993958"/>
              <a:chExt cx="2712339" cy="591693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6572250" y="50958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906768" y="4993958"/>
                <a:ext cx="16377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src / web / lib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908292" y="53216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アプリに必要なファイル一式</a:t>
                </a:r>
              </a:p>
            </p:txBody>
          </p:sp>
        </p:grpSp>
      </p:grpSp>
      <p:grpSp>
        <p:nvGrpSpPr>
          <p:cNvPr id="35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6382702"/>
              <a:ext cx="4539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出典：PAYMENT-GUIDE「使うアプリとJSON」　／　図は配布物の構成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896100" cy="922972"/>
            <a:chOff x="594360" y="406718"/>
            <a:chExt cx="689610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294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準備と台帳作成　／　初回起動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初回は「台帳を作りますか」に答える</a:t>
              </a:r>
            </a:p>
          </p:txBody>
        </p:sp>
      </p:grpSp>
      <p:grpSp>
        <p:nvGrpSpPr>
          <p:cNvPr id="7" name="first-start-evidence"/>
          <p:cNvGrpSpPr/>
          <p:nvPr/>
        </p:nvGrpSpPr>
        <p:grpSpPr>
          <a:xfrm>
            <a:off x="1745742" y="1825942"/>
            <a:ext cx="7626858" cy="2019301"/>
            <a:chOff x="1745742" y="1825942"/>
            <a:chExt cx="7626858" cy="2019301"/>
          </a:xfrm>
        </p:grpSpPr>
        <p:sp>
          <p:nvSpPr>
            <p:cNvPr id="5" name="TextBox 5"/>
            <p:cNvSpPr txBox="1"/>
            <p:nvPr/>
          </p:nvSpPr>
          <p:spPr>
            <a:xfrm>
              <a:off x="1745742" y="1825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初回の確認画面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2600" y="2200275"/>
              <a:ext cx="7620000" cy="1644968"/>
            </a:xfrm>
            <a:prstGeom prst="rect">
              <a:avLst/>
            </a:prstGeom>
          </p:spPr>
        </p:pic>
      </p:grpSp>
      <p:grpSp>
        <p:nvGrpSpPr>
          <p:cNvPr id="11" name="first-start-steps"/>
          <p:cNvGrpSpPr/>
          <p:nvPr/>
        </p:nvGrpSpPr>
        <p:grpSpPr>
          <a:xfrm>
            <a:off x="598170" y="4262438"/>
            <a:ext cx="5833872" cy="1704213"/>
            <a:chOff x="598170" y="4262438"/>
            <a:chExt cx="5833872" cy="1704213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4262438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サンプル用フォルダなら［はい］で作成。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32032"/>
              <a:ext cx="54650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入力を読み終えるまで待ち、主画面の台帳件数を見ます。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台帳を同梱していないので、初回にこの確認が出ます。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70261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既存台帳がある運用では、理由を確かめずに作り直さないでください。</a:t>
              </a:r>
            </a:p>
          </p:txBody>
        </p:sp>
      </p:grpSp>
      <p:grpSp>
        <p:nvGrpSpPr>
          <p:cNvPr id="16" name="expected-count"/>
          <p:cNvGrpSpPr/>
          <p:nvPr/>
        </p:nvGrpSpPr>
        <p:grpSpPr>
          <a:xfrm>
            <a:off x="8115300" y="4191000"/>
            <a:ext cx="3467100" cy="1657350"/>
            <a:chOff x="8115300" y="4191000"/>
            <a:chExt cx="3467100" cy="1657350"/>
          </a:xfrm>
        </p:grpSpPr>
        <p:sp>
          <p:nvSpPr>
            <p:cNvPr id="12" name="Rectangle 12"/>
            <p:cNvSpPr/>
            <p:nvPr/>
          </p:nvSpPr>
          <p:spPr>
            <a:xfrm>
              <a:off x="8115300" y="4191000"/>
              <a:ext cx="3467100" cy="165735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75142" y="4426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同梱サンプルの完成件数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62950" y="4830128"/>
              <a:ext cx="169963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5142" y="5474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主画面の最下段で確認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382702"/>
              <a:ext cx="4746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出典：PAYMENT-GUIDE「サンプルを実際に使う」　／　実画面：初回起動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703820" cy="922972"/>
            <a:chOff x="594360" y="406718"/>
            <a:chExt cx="77038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131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準備と台帳作成　／　入力と処理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データ更新で、使う入力と処理を確認する</a:t>
              </a:r>
            </a:p>
          </p:txBody>
        </p:sp>
      </p:grpSp>
      <p:grpSp>
        <p:nvGrpSpPr>
          <p:cNvPr id="6" name="update-screen"/>
          <p:cNvGrpSpPr/>
          <p:nvPr/>
        </p:nvGrpSpPr>
        <p:grpSpPr>
          <a:xfrm>
            <a:off x="609600" y="1685925"/>
            <a:ext cx="6477000" cy="4419600"/>
            <a:chOff x="609600" y="1685925"/>
            <a:chExt cx="6477000" cy="4419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85925"/>
              <a:ext cx="6477000" cy="4419600"/>
            </a:xfrm>
            <a:prstGeom prst="rect">
              <a:avLst/>
            </a:prstGeom>
          </p:spPr>
        </p:pic>
      </p:grpSp>
      <p:grpSp>
        <p:nvGrpSpPr>
          <p:cNvPr id="14" name="read-dialog"/>
          <p:cNvGrpSpPr/>
          <p:nvPr/>
        </p:nvGrpSpPr>
        <p:grpSpPr>
          <a:xfrm>
            <a:off x="7533894" y="1694498"/>
            <a:ext cx="3128010" cy="3279267"/>
            <a:chOff x="7533894" y="1694498"/>
            <a:chExt cx="3128010" cy="3279267"/>
          </a:xfrm>
        </p:grpSpPr>
        <p:sp>
          <p:nvSpPr>
            <p:cNvPr id="7" name="TextBox 7"/>
            <p:cNvSpPr txBox="1"/>
            <p:nvPr/>
          </p:nvSpPr>
          <p:spPr>
            <a:xfrm>
              <a:off x="7533894" y="1694498"/>
              <a:ext cx="2008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上から3つを確認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35418" y="2231708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　取り込むデータ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5418" y="2584132"/>
              <a:ext cx="28266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①・②・③の場所と検証結果。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5418" y="3108008"/>
              <a:ext cx="1255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　処理内容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5418" y="3460432"/>
              <a:ext cx="27409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①②の組に、③を左結合。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表示は設定から作られます。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5418" y="42986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　書き出し先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5418" y="46510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保存する台帳を確認して実行。</a:t>
              </a:r>
            </a:p>
          </p:txBody>
        </p:sp>
      </p:grpSp>
      <p:grpSp>
        <p:nvGrpSpPr>
          <p:cNvPr id="19" name="sample-counts"/>
          <p:cNvGrpSpPr/>
          <p:nvPr/>
        </p:nvGrpSpPr>
        <p:grpSpPr>
          <a:xfrm>
            <a:off x="7543800" y="5191125"/>
            <a:ext cx="4038600" cy="1019556"/>
            <a:chOff x="7543800" y="5191125"/>
            <a:chExt cx="4038600" cy="1019556"/>
          </a:xfrm>
        </p:grpSpPr>
        <p:sp>
          <p:nvSpPr>
            <p:cNvPr id="15" name="Rectangle 15"/>
            <p:cNvSpPr/>
            <p:nvPr/>
          </p:nvSpPr>
          <p:spPr>
            <a:xfrm>
              <a:off x="7543800" y="5191125"/>
              <a:ext cx="4038600" cy="1019175"/>
            </a:xfrm>
            <a:prstGeom prst="roundRect">
              <a:avLst>
                <a:gd name="adj" fmla="val 112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44968" y="5346382"/>
              <a:ext cx="1137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統合 100件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6492" y="5712142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済80件・未決済20件・③なし20件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7254" y="5975985"/>
              <a:ext cx="2467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同梱の入力4本は、それぞれ100件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82702"/>
              <a:ext cx="5877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出典：PAYMENT-GUIDE「統合と決済の条件」「サンプルを実際に使う」　／　実画面：更新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896100" cy="922972"/>
            <a:chOff x="594360" y="406718"/>
            <a:chExt cx="689610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31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準備と台帳作成　／　主画面の見方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上で検索し、中を読み、下で共有する</a:t>
              </a:r>
            </a:p>
          </p:txBody>
        </p:sp>
      </p:grpSp>
      <p:grpSp>
        <p:nvGrpSpPr>
          <p:cNvPr id="6" name="main-screen"/>
          <p:cNvGrpSpPr/>
          <p:nvPr/>
        </p:nvGrpSpPr>
        <p:grpSpPr>
          <a:xfrm>
            <a:off x="609600" y="1485900"/>
            <a:ext cx="5572125" cy="4793932"/>
            <a:chOff x="609600" y="1485900"/>
            <a:chExt cx="5572125" cy="47939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85900"/>
              <a:ext cx="5572125" cy="4793932"/>
            </a:xfrm>
            <a:prstGeom prst="rect">
              <a:avLst/>
            </a:prstGeom>
          </p:spPr>
        </p:pic>
      </p:grpSp>
      <p:grpSp>
        <p:nvGrpSpPr>
          <p:cNvPr id="9" name="top-area"/>
          <p:cNvGrpSpPr/>
          <p:nvPr/>
        </p:nvGrpSpPr>
        <p:grpSpPr>
          <a:xfrm>
            <a:off x="6695694" y="1637348"/>
            <a:ext cx="3572256" cy="745617"/>
            <a:chOff x="6695694" y="1637348"/>
            <a:chExt cx="3572256" cy="745617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6373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上：番号と検索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060258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入力欄、検索、クリア、処理状態。</a:t>
              </a:r>
            </a:p>
          </p:txBody>
        </p:sp>
      </p:grpSp>
      <p:grpSp>
        <p:nvGrpSpPr>
          <p:cNvPr id="12" name="middle-area"/>
          <p:cNvGrpSpPr/>
          <p:nvPr/>
        </p:nvGrpSpPr>
        <p:grpSpPr>
          <a:xfrm>
            <a:off x="6695694" y="2818448"/>
            <a:ext cx="3790188" cy="1069467"/>
            <a:chOff x="6695694" y="2818448"/>
            <a:chExt cx="3790188" cy="1069467"/>
          </a:xfrm>
        </p:grpSpPr>
        <p:sp>
          <p:nvSpPr>
            <p:cNvPr id="10" name="TextBox 10"/>
            <p:cNvSpPr txBox="1"/>
            <p:nvPr/>
          </p:nvSpPr>
          <p:spPr>
            <a:xfrm>
              <a:off x="6695694" y="28184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中央：対象の情報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7218" y="3241358"/>
              <a:ext cx="37886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利用者情報、申請情報、備考など。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表示中の相手・案件が合うか読みます。</a:t>
              </a:r>
            </a:p>
          </p:txBody>
        </p:sp>
      </p:grpSp>
      <p:grpSp>
        <p:nvGrpSpPr>
          <p:cNvPr id="15" name="bottom-area"/>
          <p:cNvGrpSpPr/>
          <p:nvPr/>
        </p:nvGrpSpPr>
        <p:grpSpPr>
          <a:xfrm>
            <a:off x="6695694" y="4237672"/>
            <a:ext cx="3794379" cy="745617"/>
            <a:chOff x="6695694" y="4237672"/>
            <a:chExt cx="3794379" cy="745617"/>
          </a:xfrm>
        </p:grpSpPr>
        <p:sp>
          <p:nvSpPr>
            <p:cNvPr id="13" name="TextBox 13"/>
            <p:cNvSpPr txBox="1"/>
            <p:nvPr/>
          </p:nvSpPr>
          <p:spPr>
            <a:xfrm>
              <a:off x="6695694" y="42376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下：判定と操作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97218" y="46605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決済状況、出力、更新、削除、設定。</a:t>
              </a:r>
            </a:p>
          </p:txBody>
        </p:sp>
      </p:grpSp>
      <p:grpSp>
        <p:nvGrpSpPr>
          <p:cNvPr id="18" name="status-area"/>
          <p:cNvGrpSpPr/>
          <p:nvPr/>
        </p:nvGrpSpPr>
        <p:grpSpPr>
          <a:xfrm>
            <a:off x="6695694" y="5418772"/>
            <a:ext cx="3572256" cy="745617"/>
            <a:chOff x="6695694" y="5418772"/>
            <a:chExt cx="3572256" cy="745617"/>
          </a:xfrm>
        </p:grpSpPr>
        <p:sp>
          <p:nvSpPr>
            <p:cNvPr id="16" name="TextBox 16"/>
            <p:cNvSpPr txBox="1"/>
            <p:nvPr/>
          </p:nvSpPr>
          <p:spPr>
            <a:xfrm>
              <a:off x="6695694" y="5418772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最下段：送信と状況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97218" y="58416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未送信件数、台帳件数、お知らせ。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382702"/>
              <a:ext cx="4530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実画面：AA10000000AA　／　表示項目・ラベルはサンプル設定のもの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5684520" cy="922972"/>
            <a:chOff x="594360" y="406718"/>
            <a:chExt cx="56845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599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まず1件を探す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番号を入れて、［検索］を押す</a:t>
              </a:r>
            </a:p>
          </p:txBody>
        </p:sp>
      </p:grpSp>
      <p:grpSp>
        <p:nvGrpSpPr>
          <p:cNvPr id="6" name="search-screen"/>
          <p:cNvGrpSpPr/>
          <p:nvPr/>
        </p:nvGrpSpPr>
        <p:grpSpPr>
          <a:xfrm>
            <a:off x="609600" y="1485900"/>
            <a:ext cx="5572125" cy="4793932"/>
            <a:chOff x="609600" y="1485900"/>
            <a:chExt cx="5572125" cy="47939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85900"/>
              <a:ext cx="5572125" cy="4793932"/>
            </a:xfrm>
            <a:prstGeom prst="rect">
              <a:avLst/>
            </a:prstGeom>
          </p:spPr>
        </p:pic>
      </p:grpSp>
      <p:grpSp>
        <p:nvGrpSpPr>
          <p:cNvPr id="14" name="search-instructions"/>
          <p:cNvGrpSpPr/>
          <p:nvPr/>
        </p:nvGrpSpPr>
        <p:grpSpPr>
          <a:xfrm>
            <a:off x="6695694" y="1713548"/>
            <a:ext cx="4886706" cy="3260217"/>
            <a:chOff x="6695694" y="1713548"/>
            <a:chExt cx="4886706" cy="3260217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この番号で試す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705600" y="2124075"/>
              <a:ext cx="4876800" cy="6858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41820" y="2319338"/>
              <a:ext cx="22407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AA10000000AA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7218" y="3165158"/>
              <a:ext cx="3692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会員番号／受付番号の欄へ入力。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7218" y="3660458"/>
              <a:ext cx="2138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［検索］を押す。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7218" y="4155758"/>
              <a:ext cx="3692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読取値と対象の情報を照合する。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7218" y="4651058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次へ進むときは［クリア］。</a:t>
              </a:r>
            </a:p>
          </p:txBody>
        </p:sp>
      </p:grpSp>
      <p:grpSp>
        <p:nvGrpSpPr>
          <p:cNvPr id="17" name="manual-search-rule"/>
          <p:cNvGrpSpPr/>
          <p:nvPr/>
        </p:nvGrpSpPr>
        <p:grpSpPr>
          <a:xfrm>
            <a:off x="6695694" y="5266372"/>
            <a:ext cx="3423133" cy="1024129"/>
            <a:chOff x="6695694" y="5266372"/>
            <a:chExt cx="3423133" cy="1024129"/>
          </a:xfrm>
        </p:grpSpPr>
        <p:sp>
          <p:nvSpPr>
            <p:cNvPr id="15" name="TextBox 15"/>
            <p:cNvSpPr txBox="1"/>
            <p:nvPr/>
          </p:nvSpPr>
          <p:spPr>
            <a:xfrm>
              <a:off x="6695694" y="5266372"/>
              <a:ext cx="249631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手動検索だけでは、</a:t>
              </a:r>
              <a:br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処理済になりません。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8742" y="6026468"/>
              <a:ext cx="3420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確認後の状態変更は、P12で説明します。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82702"/>
              <a:ext cx="5311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出典：PAYMENT-GUIDE「サンプルを実際に使う」　／　実画面と未送信件数を確認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299960" cy="922972"/>
            <a:chOff x="594360" y="406718"/>
            <a:chExt cx="729996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空欄の意味を読む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「未決済」では、申請詳細を空欄にする</a:t>
              </a:r>
            </a:p>
          </p:txBody>
        </p:sp>
      </p:grpSp>
      <p:grpSp>
        <p:nvGrpSpPr>
          <p:cNvPr id="6" name="unpaid-screen"/>
          <p:cNvGrpSpPr/>
          <p:nvPr/>
        </p:nvGrpSpPr>
        <p:grpSpPr>
          <a:xfrm>
            <a:off x="609600" y="1485900"/>
            <a:ext cx="5572125" cy="4793932"/>
            <a:chOff x="609600" y="1485900"/>
            <a:chExt cx="5572125" cy="47939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85900"/>
              <a:ext cx="5572125" cy="4793932"/>
            </a:xfrm>
            <a:prstGeom prst="rect">
              <a:avLst/>
            </a:prstGeom>
          </p:spPr>
        </p:pic>
      </p:grpSp>
      <p:grpSp>
        <p:nvGrpSpPr>
          <p:cNvPr id="11" name="unpaid-explanation"/>
          <p:cNvGrpSpPr/>
          <p:nvPr/>
        </p:nvGrpSpPr>
        <p:grpSpPr>
          <a:xfrm>
            <a:off x="6695694" y="1713548"/>
            <a:ext cx="3371088" cy="2945891"/>
            <a:chOff x="6695694" y="1713548"/>
            <a:chExt cx="3371088" cy="2945891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33127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試す番号：UQ10005480SY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384108"/>
              <a:ext cx="29504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この行は、①の状態が未完了。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判定は「未決済」になります。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7218" y="3365182"/>
              <a:ext cx="33695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同梱サンプルでは、未決済のときに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申請詳細の9項目を空欄にします。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7218" y="43367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行自体は、台帳に残っています。</a:t>
              </a:r>
            </a:p>
          </p:txBody>
        </p:sp>
      </p:grpSp>
      <p:grpSp>
        <p:nvGrpSpPr>
          <p:cNvPr id="16" name="paid-rule"/>
          <p:cNvGrpSpPr/>
          <p:nvPr/>
        </p:nvGrpSpPr>
        <p:grpSpPr>
          <a:xfrm>
            <a:off x="6705600" y="4943475"/>
            <a:ext cx="4876800" cy="1228725"/>
            <a:chOff x="6705600" y="4943475"/>
            <a:chExt cx="4876800" cy="1228725"/>
          </a:xfrm>
        </p:grpSpPr>
        <p:sp>
          <p:nvSpPr>
            <p:cNvPr id="12" name="Rectangle 12"/>
            <p:cNvSpPr/>
            <p:nvPr/>
          </p:nvSpPr>
          <p:spPr>
            <a:xfrm>
              <a:off x="6705600" y="4943475"/>
              <a:ext cx="4876800" cy="1228725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4868" y="51273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「済」になる条件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44868" y="5536882"/>
              <a:ext cx="3370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①が「完了」かつ②が「決済済」。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46392" y="58931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両方を満たす必要があります。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04266" y="6382702"/>
              <a:ext cx="4322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出典：PAYMENT-GUIDE「統合と決済の条件」　／　実画面：未決済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384207" cy="922972"/>
            <a:chOff x="594360" y="406718"/>
            <a:chExt cx="6384207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236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③のない行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384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③がなくても、①②の行は検索できる</a:t>
              </a:r>
            </a:p>
          </p:txBody>
        </p:sp>
      </p:grpSp>
      <p:grpSp>
        <p:nvGrpSpPr>
          <p:cNvPr id="6" name="missing-third-screen"/>
          <p:cNvGrpSpPr/>
          <p:nvPr/>
        </p:nvGrpSpPr>
        <p:grpSpPr>
          <a:xfrm>
            <a:off x="609600" y="1485900"/>
            <a:ext cx="5572125" cy="4793932"/>
            <a:chOff x="609600" y="1485900"/>
            <a:chExt cx="5572125" cy="47939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85900"/>
              <a:ext cx="5572125" cy="4793932"/>
            </a:xfrm>
            <a:prstGeom prst="rect">
              <a:avLst/>
            </a:prstGeom>
          </p:spPr>
        </p:pic>
      </p:grpSp>
      <p:grpSp>
        <p:nvGrpSpPr>
          <p:cNvPr id="10" name="missing-third-explanation"/>
          <p:cNvGrpSpPr/>
          <p:nvPr/>
        </p:nvGrpSpPr>
        <p:grpSpPr>
          <a:xfrm>
            <a:off x="6695694" y="1713548"/>
            <a:ext cx="3695890" cy="2755391"/>
            <a:chOff x="6695694" y="1713548"/>
            <a:chExt cx="3695890" cy="2755391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32545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試す番号：ZZ20000080ZZ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384108"/>
              <a:ext cx="360006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①と②はそろい、決済も済んでいます。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③に対応する申請がなくても、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この行は台帳に残ります。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7218" y="3822382"/>
              <a:ext cx="369436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判定は「済」。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③から取る項目だけが空欄になります。</a:t>
              </a:r>
            </a:p>
          </p:txBody>
        </p:sp>
      </p:grpSp>
      <p:grpSp>
        <p:nvGrpSpPr>
          <p:cNvPr id="14" name="left-join-note"/>
          <p:cNvGrpSpPr/>
          <p:nvPr/>
        </p:nvGrpSpPr>
        <p:grpSpPr>
          <a:xfrm>
            <a:off x="6705600" y="5000625"/>
            <a:ext cx="4876800" cy="1171575"/>
            <a:chOff x="6705600" y="5000625"/>
            <a:chExt cx="4876800" cy="1171575"/>
          </a:xfrm>
        </p:grpSpPr>
        <p:sp>
          <p:nvSpPr>
            <p:cNvPr id="11" name="Rectangle 11"/>
            <p:cNvSpPr/>
            <p:nvPr/>
          </p:nvSpPr>
          <p:spPr>
            <a:xfrm>
              <a:off x="6705600" y="5000625"/>
              <a:ext cx="4876800" cy="1171575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43344" y="5171122"/>
              <a:ext cx="3846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③の有無と、決済判定は別です。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44868" y="5632132"/>
              <a:ext cx="4159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同梱サンプルには③なしが20件あります。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382702"/>
              <a:ext cx="4541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出典：PAYMENT-GUIDE「統合と決済の条件」　／　実画面：③なし・済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129329" cy="922972"/>
            <a:chOff x="594360" y="406718"/>
            <a:chExt cx="7129329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131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複数候補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1293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候補が複数なら、内容を比べて1件選ぶ</a:t>
              </a:r>
            </a:p>
          </p:txBody>
        </p:sp>
      </p:grpSp>
      <p:grpSp>
        <p:nvGrpSpPr>
          <p:cNvPr id="7" name="candidates-screen"/>
          <p:cNvGrpSpPr/>
          <p:nvPr/>
        </p:nvGrpSpPr>
        <p:grpSpPr>
          <a:xfrm>
            <a:off x="602742" y="1673542"/>
            <a:ext cx="10979658" cy="2082356"/>
            <a:chOff x="602742" y="1673542"/>
            <a:chExt cx="10979658" cy="2082356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67354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同じ検索値に2件が一致した例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000250"/>
              <a:ext cx="10972800" cy="1755648"/>
            </a:xfrm>
            <a:prstGeom prst="rect">
              <a:avLst/>
            </a:prstGeom>
          </p:spPr>
        </p:pic>
      </p:grpSp>
      <p:grpSp>
        <p:nvGrpSpPr>
          <p:cNvPr id="10" name="choose-instructions"/>
          <p:cNvGrpSpPr/>
          <p:nvPr/>
        </p:nvGrpSpPr>
        <p:grpSpPr>
          <a:xfrm>
            <a:off x="599694" y="4294822"/>
            <a:ext cx="5795010" cy="1498093"/>
            <a:chOff x="599694" y="4294822"/>
            <a:chExt cx="5795010" cy="1498093"/>
          </a:xfrm>
        </p:grpSpPr>
        <p:sp>
          <p:nvSpPr>
            <p:cNvPr id="8" name="TextBox 8"/>
            <p:cNvSpPr txBox="1"/>
            <p:nvPr/>
          </p:nvSpPr>
          <p:spPr>
            <a:xfrm>
              <a:off x="599694" y="4294822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番号・日付・内容を見て、対象の行を選びます。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22508"/>
              <a:ext cx="531837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行をダブルクリックするか、選んで［OK］を押します。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選ぶ前に、処理状態は変わりません。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対象が決められなければ［キャンセル］で戻ります。</a:t>
              </a:r>
            </a:p>
          </p:txBody>
        </p:sp>
      </p:grpSp>
      <p:grpSp>
        <p:nvGrpSpPr>
          <p:cNvPr id="14" name="candidate-fixture-note"/>
          <p:cNvGrpSpPr/>
          <p:nvPr/>
        </p:nvGrpSpPr>
        <p:grpSpPr>
          <a:xfrm>
            <a:off x="7791450" y="4171950"/>
            <a:ext cx="3790950" cy="1790700"/>
            <a:chOff x="7791450" y="4171950"/>
            <a:chExt cx="3790950" cy="1790700"/>
          </a:xfrm>
        </p:grpSpPr>
        <p:sp>
          <p:nvSpPr>
            <p:cNvPr id="11" name="Rectangle 11"/>
            <p:cNvSpPr/>
            <p:nvPr/>
          </p:nvSpPr>
          <p:spPr>
            <a:xfrm>
              <a:off x="7791450" y="4171950"/>
              <a:ext cx="3790950" cy="1790700"/>
            </a:xfrm>
            <a:prstGeom prst="roundRect">
              <a:avLst>
                <a:gd name="adj" fmla="val 638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11668" y="43557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この画像は説明用台帳です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13192" y="4816792"/>
              <a:ext cx="2696908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2件に同じ検索値を付けて撮影。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配布される100件のサンプルには、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この重複は入っていません。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382702"/>
              <a:ext cx="4965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出典：PAYMENT-GUIDE「サンプルを実際に使う」　／　実画面：説明用2候補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8511540" cy="922972"/>
            <a:chOff x="594360" y="406718"/>
            <a:chExt cx="851154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処理状態を付ける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85115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確認できたら［未処理］を押して状態を変える</a:t>
              </a:r>
            </a:p>
          </p:txBody>
        </p:sp>
      </p:grpSp>
      <p:grpSp>
        <p:nvGrpSpPr>
          <p:cNvPr id="6" name="pending-screen"/>
          <p:cNvGrpSpPr/>
          <p:nvPr/>
        </p:nvGrpSpPr>
        <p:grpSpPr>
          <a:xfrm>
            <a:off x="609600" y="1485900"/>
            <a:ext cx="5572125" cy="4793932"/>
            <a:chOff x="609600" y="1485900"/>
            <a:chExt cx="5572125" cy="47939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85900"/>
              <a:ext cx="5572125" cy="4793932"/>
            </a:xfrm>
            <a:prstGeom prst="rect">
              <a:avLst/>
            </a:prstGeom>
          </p:spPr>
        </p:pic>
      </p:grpSp>
      <p:grpSp>
        <p:nvGrpSpPr>
          <p:cNvPr id="10" name="pending-instructions"/>
          <p:cNvGrpSpPr/>
          <p:nvPr/>
        </p:nvGrpSpPr>
        <p:grpSpPr>
          <a:xfrm>
            <a:off x="6695694" y="1713548"/>
            <a:ext cx="3790188" cy="1981581"/>
            <a:chOff x="6695694" y="1713548"/>
            <a:chExt cx="3790188" cy="1981581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27294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AA10000000AAで試す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317432"/>
              <a:ext cx="37886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上の［未処理］を押すと、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ボタンの表示が［処理済］になります。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5694" y="3313748"/>
              <a:ext cx="37494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この時点では「未送信 1 件」。</a:t>
              </a:r>
            </a:p>
          </p:txBody>
        </p:sp>
      </p:grpSp>
      <p:grpSp>
        <p:nvGrpSpPr>
          <p:cNvPr id="17" name="two-states"/>
          <p:cNvGrpSpPr/>
          <p:nvPr/>
        </p:nvGrpSpPr>
        <p:grpSpPr>
          <a:xfrm>
            <a:off x="6705600" y="4038600"/>
            <a:ext cx="4876800" cy="2124075"/>
            <a:chOff x="6705600" y="4038600"/>
            <a:chExt cx="4876800" cy="2124075"/>
          </a:xfrm>
        </p:grpSpPr>
        <p:sp>
          <p:nvSpPr>
            <p:cNvPr id="11" name="Rectangle 11"/>
            <p:cNvSpPr/>
            <p:nvPr/>
          </p:nvSpPr>
          <p:spPr>
            <a:xfrm>
              <a:off x="6705600" y="4038600"/>
              <a:ext cx="4876800" cy="2124075"/>
            </a:xfrm>
            <a:prstGeom prst="roundRect">
              <a:avLst>
                <a:gd name="adj" fmla="val 53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44868" y="42510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決済状況の「済」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44868" y="4584382"/>
              <a:ext cx="3148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①と②のデータから決まる判定。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953250" y="4981575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44868" y="51749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利用者が付ける「処理済」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44868" y="5508308"/>
              <a:ext cx="360006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人が確認して付ける状態。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送信するまでは、このPCに残ります。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82702"/>
              <a:ext cx="5530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出典：PAYMENT-GUIDE「統合と決済の条件」「削除の条件」　／　実画面：未送信1件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299960" cy="922972"/>
            <a:chOff x="594360" y="406718"/>
            <a:chExt cx="729996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676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変更を共有する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まとめて送信して、共有台帳へ反映する</a:t>
              </a:r>
            </a:p>
          </p:txBody>
        </p:sp>
      </p:grpSp>
      <p:grpSp>
        <p:nvGrpSpPr>
          <p:cNvPr id="7" name="send-confirm"/>
          <p:cNvGrpSpPr/>
          <p:nvPr/>
        </p:nvGrpSpPr>
        <p:grpSpPr>
          <a:xfrm>
            <a:off x="599694" y="1723072"/>
            <a:ext cx="5058156" cy="1953864"/>
            <a:chOff x="599694" y="1723072"/>
            <a:chExt cx="5058156" cy="1953864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72307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件数を確認して［はい］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257425"/>
              <a:ext cx="5048250" cy="1419511"/>
            </a:xfrm>
            <a:prstGeom prst="rect">
              <a:avLst/>
            </a:prstGeom>
          </p:spPr>
        </p:pic>
      </p:grpSp>
      <p:grpSp>
        <p:nvGrpSpPr>
          <p:cNvPr id="11" name="send-result-text"/>
          <p:cNvGrpSpPr/>
          <p:nvPr/>
        </p:nvGrpSpPr>
        <p:grpSpPr>
          <a:xfrm>
            <a:off x="598170" y="4214812"/>
            <a:ext cx="3832522" cy="1808989"/>
            <a:chOff x="598170" y="4214812"/>
            <a:chExt cx="3832522" cy="1808989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4214812"/>
              <a:ext cx="38325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未送信0件になったら完了。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22508"/>
              <a:ext cx="33695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このサンプルでは、送信後に表示も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クリアされます。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759768"/>
              <a:ext cx="313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送るのは、このPCに溜めた変更です。</a:t>
              </a:r>
            </a:p>
          </p:txBody>
        </p:sp>
      </p:grpSp>
      <p:grpSp>
        <p:nvGrpSpPr>
          <p:cNvPr id="13" name="sent-screen"/>
          <p:cNvGrpSpPr/>
          <p:nvPr/>
        </p:nvGrpSpPr>
        <p:grpSpPr>
          <a:xfrm>
            <a:off x="6229350" y="1628775"/>
            <a:ext cx="5334000" cy="4589050"/>
            <a:chOff x="6229350" y="1628775"/>
            <a:chExt cx="5334000" cy="458905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9350" y="1628775"/>
              <a:ext cx="5334000" cy="4589050"/>
            </a:xfrm>
            <a:prstGeom prst="rect">
              <a:avLst/>
            </a:prstGeom>
          </p:spPr>
        </p:pic>
      </p:grpSp>
      <p:grpSp>
        <p:nvGrpSpPr>
          <p:cNvPr id="16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604266" y="6382702"/>
              <a:ext cx="4764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実画面：1件の送信確認と送信後　／　保存済みExcelでも処理済1件を確認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703820" cy="922972"/>
            <a:chOff x="594360" y="406718"/>
            <a:chExt cx="77038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31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状態を戻す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戻すときも、同じ番号を検索して送信する</a:t>
              </a:r>
            </a:p>
          </p:txBody>
        </p:sp>
      </p:grpSp>
      <p:grpSp>
        <p:nvGrpSpPr>
          <p:cNvPr id="7" name="return-confirm-screen"/>
          <p:cNvGrpSpPr/>
          <p:nvPr/>
        </p:nvGrpSpPr>
        <p:grpSpPr>
          <a:xfrm>
            <a:off x="1745742" y="1797368"/>
            <a:ext cx="7626858" cy="2019014"/>
            <a:chOff x="1745742" y="1797368"/>
            <a:chExt cx="7626858" cy="2019014"/>
          </a:xfrm>
        </p:grpSpPr>
        <p:sp>
          <p:nvSpPr>
            <p:cNvPr id="5" name="TextBox 5"/>
            <p:cNvSpPr txBox="1"/>
            <p:nvPr/>
          </p:nvSpPr>
          <p:spPr>
            <a:xfrm>
              <a:off x="1745742" y="17973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処理済の状態でボタンを押すと、確認が出ます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2600" y="2171700"/>
              <a:ext cx="7620000" cy="1644682"/>
            </a:xfrm>
            <a:prstGeom prst="rect">
              <a:avLst/>
            </a:prstGeom>
          </p:spPr>
        </p:pic>
      </p:grpSp>
      <p:grpSp>
        <p:nvGrpSpPr>
          <p:cNvPr id="11" name="return-instructions"/>
          <p:cNvGrpSpPr/>
          <p:nvPr/>
        </p:nvGrpSpPr>
        <p:grpSpPr>
          <a:xfrm>
            <a:off x="599694" y="4313872"/>
            <a:ext cx="6057519" cy="1681353"/>
            <a:chOff x="599694" y="4313872"/>
            <a:chExt cx="6057519" cy="1681353"/>
          </a:xfrm>
        </p:grpSpPr>
        <p:sp>
          <p:nvSpPr>
            <p:cNvPr id="8" name="TextBox 8"/>
            <p:cNvSpPr txBox="1"/>
            <p:nvPr/>
          </p:nvSpPr>
          <p:spPr>
            <a:xfrm>
              <a:off x="599694" y="4313872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同じ番号をもう一度検索して、［処理済］を押す。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51082"/>
              <a:ext cx="48364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確認に［はい］で答えると、未処理へ戻ります。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その変更も［変更をまとめて送信］で反映します。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7311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送信済みの行でも、状態の切り替えはできます。</a:t>
              </a:r>
            </a:p>
          </p:txBody>
        </p:sp>
      </p:grpSp>
      <p:grpSp>
        <p:nvGrpSpPr>
          <p:cNvPr id="15" name="clear-note"/>
          <p:cNvGrpSpPr/>
          <p:nvPr/>
        </p:nvGrpSpPr>
        <p:grpSpPr>
          <a:xfrm>
            <a:off x="7848600" y="4238625"/>
            <a:ext cx="3733800" cy="1666875"/>
            <a:chOff x="7848600" y="4238625"/>
            <a:chExt cx="3733800" cy="1666875"/>
          </a:xfrm>
        </p:grpSpPr>
        <p:sp>
          <p:nvSpPr>
            <p:cNvPr id="12" name="Rectangle 12"/>
            <p:cNvSpPr/>
            <p:nvPr/>
          </p:nvSpPr>
          <p:spPr>
            <a:xfrm>
              <a:off x="7848600" y="4238625"/>
              <a:ext cx="3733800" cy="1666875"/>
            </a:xfrm>
            <a:prstGeom prst="roundRect">
              <a:avLst>
                <a:gd name="adj" fmla="val 6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86344" y="44186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［クリア］の役割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7868" y="4917758"/>
              <a:ext cx="23218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表示を消す操作です。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処理状態の取り消しには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なりません。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04266" y="6382702"/>
              <a:ext cx="5763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出典：README「台帳の更新と確認状態」　／　実画面：戻す確認（撮影後はキャンセル）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6088380" cy="922972"/>
            <a:chOff x="594360" y="406718"/>
            <a:chExt cx="608838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464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一覧をCSVへ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帳票出力で、出したい項目を選ぶ</a:t>
              </a:r>
            </a:p>
          </p:txBody>
        </p:sp>
      </p:grpSp>
      <p:grpSp>
        <p:nvGrpSpPr>
          <p:cNvPr id="6" name="export-screen"/>
          <p:cNvGrpSpPr/>
          <p:nvPr/>
        </p:nvGrpSpPr>
        <p:grpSpPr>
          <a:xfrm>
            <a:off x="609600" y="1495425"/>
            <a:ext cx="5667375" cy="4760595"/>
            <a:chOff x="609600" y="1495425"/>
            <a:chExt cx="5667375" cy="476059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95425"/>
              <a:ext cx="5667375" cy="4760595"/>
            </a:xfrm>
            <a:prstGeom prst="rect">
              <a:avLst/>
            </a:prstGeom>
          </p:spPr>
        </p:pic>
      </p:grpSp>
      <p:grpSp>
        <p:nvGrpSpPr>
          <p:cNvPr id="11" name="field-instructions"/>
          <p:cNvGrpSpPr/>
          <p:nvPr/>
        </p:nvGrpSpPr>
        <p:grpSpPr>
          <a:xfrm>
            <a:off x="6695694" y="1713548"/>
            <a:ext cx="4238625" cy="3126867"/>
            <a:chOff x="6695694" y="1713548"/>
            <a:chExt cx="4238625" cy="3126867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右側が「出力する項目」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326958"/>
              <a:ext cx="34848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左で項目を選び、▶で右へ移します。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外すときは、右で選んで◀。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7218" y="3412808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項目のダブルクリックでも移動できます。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7218" y="4193858"/>
              <a:ext cx="29504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［既定に戻す］で、設定された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初期の項目選択へ戻ります。</a:t>
              </a:r>
            </a:p>
          </p:txBody>
        </p:sp>
      </p:grpSp>
      <p:grpSp>
        <p:nvGrpSpPr>
          <p:cNvPr id="15" name="export-scope"/>
          <p:cNvGrpSpPr/>
          <p:nvPr/>
        </p:nvGrpSpPr>
        <p:grpSpPr>
          <a:xfrm>
            <a:off x="6705600" y="5191125"/>
            <a:ext cx="4876800" cy="990600"/>
            <a:chOff x="6705600" y="5191125"/>
            <a:chExt cx="4876800" cy="990600"/>
          </a:xfrm>
        </p:grpSpPr>
        <p:sp>
          <p:nvSpPr>
            <p:cNvPr id="12" name="Rectangle 12"/>
            <p:cNvSpPr/>
            <p:nvPr/>
          </p:nvSpPr>
          <p:spPr>
            <a:xfrm>
              <a:off x="6705600" y="5191125"/>
              <a:ext cx="48768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4868" y="5365432"/>
              <a:ext cx="38418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出るのは、このPCで見えている内容。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46392" y="5788342"/>
              <a:ext cx="276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他PCの未送信変更は含みません。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04266" y="6382702"/>
              <a:ext cx="5763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出典：README「設定では提供しないこと」・画面の項目選択処理　／　実画面：帳票出力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635392" cy="922972"/>
            <a:chOff x="594360" y="406718"/>
            <a:chExt cx="7635392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検索・確認・送信　／　条件を付けて出力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6353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条件を［追加］し、新しいCSVへ書き出す</a:t>
              </a:r>
            </a:p>
          </p:txBody>
        </p:sp>
      </p:grpSp>
      <p:grpSp>
        <p:nvGrpSpPr>
          <p:cNvPr id="6" name="filter-screen"/>
          <p:cNvGrpSpPr/>
          <p:nvPr/>
        </p:nvGrpSpPr>
        <p:grpSpPr>
          <a:xfrm>
            <a:off x="609600" y="1495425"/>
            <a:ext cx="5667375" cy="4760595"/>
            <a:chOff x="609600" y="1495425"/>
            <a:chExt cx="5667375" cy="476059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95425"/>
              <a:ext cx="5667375" cy="4760595"/>
            </a:xfrm>
            <a:prstGeom prst="rect">
              <a:avLst/>
            </a:prstGeom>
          </p:spPr>
        </p:pic>
      </p:grpSp>
      <p:grpSp>
        <p:nvGrpSpPr>
          <p:cNvPr id="11" name="filter-instructions"/>
          <p:cNvGrpSpPr/>
          <p:nvPr/>
        </p:nvGrpSpPr>
        <p:grpSpPr>
          <a:xfrm>
            <a:off x="6695694" y="1713548"/>
            <a:ext cx="3350133" cy="2945891"/>
            <a:chOff x="6695694" y="1713548"/>
            <a:chExt cx="3350133" cy="2945891"/>
          </a:xfrm>
        </p:grpSpPr>
        <p:sp>
          <p:nvSpPr>
            <p:cNvPr id="7" name="TextBox 7"/>
            <p:cNvSpPr txBox="1"/>
            <p:nvPr/>
          </p:nvSpPr>
          <p:spPr>
            <a:xfrm>
              <a:off x="6695694" y="17135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「済」の行だけを出す例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7218" y="2288858"/>
              <a:ext cx="16931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項目：決済確認済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条件：等しい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値：済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7218" y="3546158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［追加］で、下の一覧へ入れる。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7218" y="4012882"/>
              <a:ext cx="318096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出力先を指定して［OK］。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このサンプルでは80行が出ます。</a:t>
              </a:r>
            </a:p>
          </p:txBody>
        </p:sp>
      </p:grpSp>
      <p:grpSp>
        <p:nvGrpSpPr>
          <p:cNvPr id="15" name="filter-notes"/>
          <p:cNvGrpSpPr/>
          <p:nvPr/>
        </p:nvGrpSpPr>
        <p:grpSpPr>
          <a:xfrm>
            <a:off x="6705600" y="5076825"/>
            <a:ext cx="4876800" cy="1162050"/>
            <a:chOff x="6705600" y="5076825"/>
            <a:chExt cx="4876800" cy="1162050"/>
          </a:xfrm>
        </p:grpSpPr>
        <p:sp>
          <p:nvSpPr>
            <p:cNvPr id="12" name="Rectangle 12"/>
            <p:cNvSpPr/>
            <p:nvPr/>
          </p:nvSpPr>
          <p:spPr>
            <a:xfrm>
              <a:off x="6705600" y="5076825"/>
              <a:ext cx="4876800" cy="1162050"/>
            </a:xfrm>
            <a:prstGeom prst="roundRect">
              <a:avLst>
                <a:gd name="adj" fmla="val 98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6392" y="52644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複数の条件は、すべて一致した行が対象です。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46392" y="5654992"/>
              <a:ext cx="318554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Excel向けの数式無効化は、番号や日付の</a:t>
              </a:r>
              <a:br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自動変換まで防ぐものではありません。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04266" y="6382702"/>
              <a:ext cx="5599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出典：README「設定では提供しないこと」　／　実画面と出力CSV：条件「済」で80行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703820" cy="922972"/>
            <a:chOff x="594360" y="406718"/>
            <a:chExt cx="77038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404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次の入力に更新する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入力を差し替えたら、更新内容を確認する</a:t>
              </a:r>
            </a:p>
          </p:txBody>
        </p:sp>
      </p:grpSp>
      <p:grpSp>
        <p:nvGrpSpPr>
          <p:cNvPr id="7" name="update-confirm-screen"/>
          <p:cNvGrpSpPr/>
          <p:nvPr/>
        </p:nvGrpSpPr>
        <p:grpSpPr>
          <a:xfrm>
            <a:off x="602742" y="1768792"/>
            <a:ext cx="7626858" cy="2205705"/>
            <a:chOff x="602742" y="1768792"/>
            <a:chExt cx="7626858" cy="2205705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7687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入力と台帳の内容に差があるときの確認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133600"/>
              <a:ext cx="7620000" cy="1840897"/>
            </a:xfrm>
            <a:prstGeom prst="rect">
              <a:avLst/>
            </a:prstGeom>
          </p:spPr>
        </p:pic>
      </p:grpSp>
      <p:grpSp>
        <p:nvGrpSpPr>
          <p:cNvPr id="11" name="update-steps"/>
          <p:cNvGrpSpPr/>
          <p:nvPr/>
        </p:nvGrpSpPr>
        <p:grpSpPr>
          <a:xfrm>
            <a:off x="8772144" y="1742122"/>
            <a:ext cx="2561082" cy="1986153"/>
            <a:chOff x="8772144" y="1742122"/>
            <a:chExt cx="2561082" cy="1986153"/>
          </a:xfrm>
        </p:grpSpPr>
        <p:sp>
          <p:nvSpPr>
            <p:cNvPr id="8" name="TextBox 8"/>
            <p:cNvSpPr txBox="1"/>
            <p:nvPr/>
          </p:nvSpPr>
          <p:spPr>
            <a:xfrm>
              <a:off x="8772144" y="174212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更新の入口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73668" y="2269808"/>
              <a:ext cx="21122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［データ更新］から、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入力・処理・保存先を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確認して実行します。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75192" y="34642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起動時にも更新を確認します。</a:t>
              </a:r>
            </a:p>
          </p:txBody>
        </p:sp>
      </p:grpSp>
      <p:grpSp>
        <p:nvGrpSpPr>
          <p:cNvPr id="14" name="merge-rules"/>
          <p:cNvGrpSpPr/>
          <p:nvPr/>
        </p:nvGrpSpPr>
        <p:grpSpPr>
          <a:xfrm>
            <a:off x="599694" y="4551998"/>
            <a:ext cx="5047488" cy="1479041"/>
            <a:chOff x="599694" y="4551998"/>
            <a:chExt cx="5047488" cy="1479041"/>
          </a:xfrm>
        </p:grpSpPr>
        <p:sp>
          <p:nvSpPr>
            <p:cNvPr id="12" name="TextBox 12"/>
            <p:cNvSpPr txBox="1"/>
            <p:nvPr/>
          </p:nvSpPr>
          <p:spPr>
            <a:xfrm>
              <a:off x="599694" y="45519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このサンプルのマージ規則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5060632"/>
              <a:ext cx="50459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新しい行は追加。同じ識別キーの行は内容を更新。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今回の入力結果にない既存行は、残します。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元データの内容が変わった行は、未処理へ戻します。</a:t>
              </a:r>
            </a:p>
          </p:txBody>
        </p:sp>
      </p:grpSp>
      <p:grpSp>
        <p:nvGrpSpPr>
          <p:cNvPr id="18" name="update-limit"/>
          <p:cNvGrpSpPr/>
          <p:nvPr/>
        </p:nvGrpSpPr>
        <p:grpSpPr>
          <a:xfrm>
            <a:off x="7943850" y="4438650"/>
            <a:ext cx="3638550" cy="1666875"/>
            <a:chOff x="7943850" y="4438650"/>
            <a:chExt cx="3638550" cy="1666875"/>
          </a:xfrm>
        </p:grpSpPr>
        <p:sp>
          <p:nvSpPr>
            <p:cNvPr id="15" name="Rectangle 15"/>
            <p:cNvSpPr/>
            <p:nvPr/>
          </p:nvSpPr>
          <p:spPr>
            <a:xfrm>
              <a:off x="7943850" y="4438650"/>
              <a:ext cx="3638550" cy="1666875"/>
            </a:xfrm>
            <a:prstGeom prst="roundRect">
              <a:avLst>
                <a:gd name="adj" fmla="val 6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64068" y="4632008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送信済みでも再確認が必要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65592" y="5093018"/>
              <a:ext cx="258546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送信済み行の内容を再取込から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保護する機能は、この対象版には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含まれていません。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382702"/>
              <a:ext cx="5877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出典：PAYMENT-GUIDE「既存台帳と残る改定範囲」　／　実画面：説明用台帳への更新確認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8744769" cy="922972"/>
            <a:chOff x="594360" y="406718"/>
            <a:chExt cx="8744769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494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削除する前に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87447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削除は「2項目の組一致」と「送信済み処理済」</a:t>
              </a:r>
            </a:p>
          </p:txBody>
        </p:sp>
      </p:grpSp>
      <p:grpSp>
        <p:nvGrpSpPr>
          <p:cNvPr id="7" name="delete-screen"/>
          <p:cNvGrpSpPr/>
          <p:nvPr/>
        </p:nvGrpSpPr>
        <p:grpSpPr>
          <a:xfrm>
            <a:off x="603504" y="1771650"/>
            <a:ext cx="6483096" cy="4324731"/>
            <a:chOff x="603504" y="1771650"/>
            <a:chExt cx="6483096" cy="4324731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771650"/>
              <a:ext cx="6477000" cy="3960209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603504" y="5861685"/>
              <a:ext cx="3655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④の削除用入力と、共有台帳の保存済み状態で判定</a:t>
              </a:r>
            </a:p>
          </p:txBody>
        </p:sp>
      </p:grpSp>
      <p:grpSp>
        <p:nvGrpSpPr>
          <p:cNvPr id="13" name="delete-rules"/>
          <p:cNvGrpSpPr/>
          <p:nvPr/>
        </p:nvGrpSpPr>
        <p:grpSpPr>
          <a:xfrm>
            <a:off x="7533894" y="1751648"/>
            <a:ext cx="3034163" cy="2907791"/>
            <a:chOff x="7533894" y="1751648"/>
            <a:chExt cx="3034163" cy="2907791"/>
          </a:xfrm>
        </p:grpSpPr>
        <p:sp>
          <p:nvSpPr>
            <p:cNvPr id="8" name="TextBox 8"/>
            <p:cNvSpPr txBox="1"/>
            <p:nvPr/>
          </p:nvSpPr>
          <p:spPr>
            <a:xfrm>
              <a:off x="7533894" y="17516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両方が必要です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5418" y="2326958"/>
              <a:ext cx="3032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　会員番号＋申請番号が一致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5418" y="2698432"/>
              <a:ext cx="276186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④の同じ行にある2項目の組で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台帳と照合します。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5418" y="3641408"/>
              <a:ext cx="2810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　共有へ保存済みの処理済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5418" y="4012882"/>
              <a:ext cx="29504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手元で処理済にしただけでは、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まだ削除の対象になりません。</a:t>
              </a:r>
            </a:p>
          </p:txBody>
        </p:sp>
      </p:grpSp>
      <p:grpSp>
        <p:nvGrpSpPr>
          <p:cNvPr id="17" name="delete-scope"/>
          <p:cNvGrpSpPr/>
          <p:nvPr/>
        </p:nvGrpSpPr>
        <p:grpSpPr>
          <a:xfrm>
            <a:off x="7543800" y="5105400"/>
            <a:ext cx="4038600" cy="1104900"/>
            <a:chOff x="7543800" y="5105400"/>
            <a:chExt cx="4038600" cy="1104900"/>
          </a:xfrm>
        </p:grpSpPr>
        <p:sp>
          <p:nvSpPr>
            <p:cNvPr id="14" name="Rectangle 14"/>
            <p:cNvSpPr/>
            <p:nvPr/>
          </p:nvSpPr>
          <p:spPr>
            <a:xfrm>
              <a:off x="7543800" y="5105400"/>
              <a:ext cx="40386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65542" y="5264468"/>
              <a:ext cx="268447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検索中の1件だけを消すボタンでは</a:t>
              </a:r>
              <a:br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ありません。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65542" y="58835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条件に合う行すべてが対象です。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82702"/>
              <a:ext cx="5530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出典：PAYMENT-GUIDE「削除の条件」　／　実画面：削除・未送信状態での削除は0件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999647" cy="922972"/>
            <a:chOff x="594360" y="406718"/>
            <a:chExt cx="7999647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676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結果を確かめる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9996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1件を送信してから削除すると、99件になる</a:t>
              </a:r>
            </a:p>
          </p:txBody>
        </p:sp>
      </p:grpSp>
      <p:grpSp>
        <p:nvGrpSpPr>
          <p:cNvPr id="8" name="delete-outcome"/>
          <p:cNvGrpSpPr/>
          <p:nvPr/>
        </p:nvGrpSpPr>
        <p:grpSpPr>
          <a:xfrm>
            <a:off x="590550" y="1888808"/>
            <a:ext cx="4241902" cy="2113407"/>
            <a:chOff x="590550" y="1888808"/>
            <a:chExt cx="4241902" cy="2113407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88808"/>
              <a:ext cx="4231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AA10000000AAを処理済にして送信した例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458402"/>
              <a:ext cx="298769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→ 99 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3355658"/>
              <a:ext cx="369436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送信済みで条件に合う1件だけが消え、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未処理の一致行は残ります。</a:t>
              </a:r>
            </a:p>
          </p:txBody>
        </p:sp>
      </p:grpSp>
      <p:grpSp>
        <p:nvGrpSpPr>
          <p:cNvPr id="11" name="delete-limit"/>
          <p:cNvGrpSpPr/>
          <p:nvPr/>
        </p:nvGrpSpPr>
        <p:grpSpPr>
          <a:xfrm>
            <a:off x="599694" y="4656772"/>
            <a:ext cx="4744974" cy="1488567"/>
            <a:chOff x="599694" y="4656772"/>
            <a:chExt cx="4744974" cy="1488567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65677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この版に、削除済み一覧はありません。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74932"/>
              <a:ext cx="37886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削除した行は、再取込で復活し得ます。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実運用前に、台帳の控えと扱い方を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担当者と決めてください。</a:t>
              </a:r>
            </a:p>
          </p:txBody>
        </p:sp>
      </p:grpSp>
      <p:grpSp>
        <p:nvGrpSpPr>
          <p:cNvPr id="13" name="deleted-screen"/>
          <p:cNvGrpSpPr/>
          <p:nvPr/>
        </p:nvGrpSpPr>
        <p:grpSpPr>
          <a:xfrm>
            <a:off x="6229350" y="1628775"/>
            <a:ext cx="5334000" cy="4589050"/>
            <a:chOff x="6229350" y="1628775"/>
            <a:chExt cx="5334000" cy="458905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9350" y="1628775"/>
              <a:ext cx="5334000" cy="4589050"/>
            </a:xfrm>
            <a:prstGeom prst="rect">
              <a:avLst/>
            </a:prstGeom>
          </p:spPr>
        </p:pic>
      </p:grpSp>
      <p:grpSp>
        <p:nvGrpSpPr>
          <p:cNvPr id="16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604266" y="6382702"/>
              <a:ext cx="5683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出典：PAYMENT-GUIDE「既存台帳と残る改定範囲」　／　実画面・保存済みExcel：99件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703820" cy="922972"/>
            <a:chOff x="594360" y="406718"/>
            <a:chExt cx="770382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31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設定の入口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場所・検索・監視は［設定］から確認する</a:t>
              </a:r>
            </a:p>
          </p:txBody>
        </p:sp>
      </p:grpSp>
      <p:grpSp>
        <p:nvGrpSpPr>
          <p:cNvPr id="6" name="settings-screen"/>
          <p:cNvGrpSpPr/>
          <p:nvPr/>
        </p:nvGrpSpPr>
        <p:grpSpPr>
          <a:xfrm>
            <a:off x="609600" y="1685925"/>
            <a:ext cx="6572250" cy="4547044"/>
            <a:chOff x="609600" y="1685925"/>
            <a:chExt cx="6572250" cy="4547044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85925"/>
              <a:ext cx="6572250" cy="4547044"/>
            </a:xfrm>
            <a:prstGeom prst="rect">
              <a:avLst/>
            </a:prstGeom>
          </p:spPr>
        </p:pic>
      </p:grpSp>
      <p:grpSp>
        <p:nvGrpSpPr>
          <p:cNvPr id="10" name="settings-instructions"/>
          <p:cNvGrpSpPr/>
          <p:nvPr/>
        </p:nvGrpSpPr>
        <p:grpSpPr>
          <a:xfrm>
            <a:off x="7724394" y="1751648"/>
            <a:ext cx="2951988" cy="2755391"/>
            <a:chOff x="7724394" y="1751648"/>
            <a:chExt cx="2951988" cy="2755391"/>
          </a:xfrm>
        </p:grpSpPr>
        <p:sp>
          <p:nvSpPr>
            <p:cNvPr id="7" name="TextBox 7"/>
            <p:cNvSpPr txBox="1"/>
            <p:nvPr/>
          </p:nvSpPr>
          <p:spPr>
            <a:xfrm>
              <a:off x="7724394" y="175164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ここで確認するもの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25918" y="2355532"/>
              <a:ext cx="27409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入力と台帳の場所。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検索に使える番号の形式。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外部ウィンドウの監視対象。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5918" y="3860482"/>
              <a:ext cx="29504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表の結合や判定の変更は、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設定を作る担当者へ渡します。</a:t>
              </a:r>
            </a:p>
          </p:txBody>
        </p:sp>
      </p:grpSp>
      <p:grpSp>
        <p:nvGrpSpPr>
          <p:cNvPr id="14" name="settings-notes"/>
          <p:cNvGrpSpPr/>
          <p:nvPr/>
        </p:nvGrpSpPr>
        <p:grpSpPr>
          <a:xfrm>
            <a:off x="7734300" y="4933950"/>
            <a:ext cx="3848100" cy="1304925"/>
            <a:chOff x="7734300" y="4933950"/>
            <a:chExt cx="3848100" cy="1304925"/>
          </a:xfrm>
        </p:grpSpPr>
        <p:sp>
          <p:nvSpPr>
            <p:cNvPr id="11" name="Rectangle 11"/>
            <p:cNvSpPr/>
            <p:nvPr/>
          </p:nvSpPr>
          <p:spPr>
            <a:xfrm>
              <a:off x="7734300" y="4933950"/>
              <a:ext cx="3848100" cy="1304925"/>
            </a:xfrm>
            <a:prstGeom prst="roundRect">
              <a:avLst>
                <a:gd name="adj" fmla="val 87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6042" y="51215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写真は、監視を無効にした撮影用設定。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6042" y="5540692"/>
              <a:ext cx="20711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固定版・従来版のJSONを</a:t>
              </a:r>
              <a:br/>
              <a:r>
                <a:rPr lang="ja-JP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取り違えないでください。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04266" y="6382702"/>
              <a:ext cx="5917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出典：PAYMENT-GUIDE「JSONのどこを変えるか」・docs/settings.md　／　実画面：設定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299960" cy="922972"/>
            <a:chOff x="594360" y="406718"/>
            <a:chExt cx="729996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858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自動読取の仕組み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自動読取は、別アプリの入力欄を見張る</a:t>
              </a:r>
            </a:p>
          </p:txBody>
        </p:sp>
      </p:grpSp>
      <p:grpSp>
        <p:nvGrpSpPr>
          <p:cNvPr id="21" name="watch-flow"/>
          <p:cNvGrpSpPr/>
          <p:nvPr/>
        </p:nvGrpSpPr>
        <p:grpSpPr>
          <a:xfrm>
            <a:off x="609600" y="1752600"/>
            <a:ext cx="10972800" cy="2409825"/>
            <a:chOff x="609600" y="1752600"/>
            <a:chExt cx="10972800" cy="2409825"/>
          </a:xfrm>
        </p:grpSpPr>
        <p:sp>
          <p:nvSpPr>
            <p:cNvPr id="5" name="Line 5"/>
            <p:cNvSpPr/>
            <p:nvPr/>
          </p:nvSpPr>
          <p:spPr>
            <a:xfrm>
              <a:off x="2667000" y="275272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0" name="watch-target"/>
            <p:cNvGrpSpPr/>
            <p:nvPr/>
          </p:nvGrpSpPr>
          <p:grpSpPr>
            <a:xfrm>
              <a:off x="609600" y="1752600"/>
              <a:ext cx="3344037" cy="2409825"/>
              <a:chOff x="609600" y="1752600"/>
              <a:chExt cx="3344037" cy="24098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752600"/>
                <a:ext cx="3333750" cy="2409825"/>
              </a:xfrm>
              <a:prstGeom prst="roundRect">
                <a:avLst>
                  <a:gd name="adj" fmla="val 47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47344" y="1942148"/>
                <a:ext cx="216057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　対象欄を選ぶ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8868" y="2546032"/>
                <a:ext cx="2740914" cy="970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設定の［画面から選ぶ］で、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実際に使うアプリの欄を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指定します。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50392" y="3711892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機器そのものに接続する機能ではない</a:t>
                </a:r>
              </a:p>
            </p:txBody>
          </p:sp>
        </p:grpSp>
        <p:grpSp>
          <p:nvGrpSpPr>
            <p:cNvPr id="15" name="detect-value"/>
            <p:cNvGrpSpPr/>
            <p:nvPr/>
          </p:nvGrpSpPr>
          <p:grpSpPr>
            <a:xfrm>
              <a:off x="4429125" y="1752600"/>
              <a:ext cx="3333750" cy="2409825"/>
              <a:chOff x="4429125" y="1752600"/>
              <a:chExt cx="3333750" cy="24098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429125" y="1752600"/>
                <a:ext cx="3333750" cy="2409825"/>
              </a:xfrm>
              <a:prstGeom prst="roundRect">
                <a:avLst>
                  <a:gd name="adj" fmla="val 474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666869" y="1942148"/>
                <a:ext cx="24230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　番号を検知する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68393" y="2546032"/>
                <a:ext cx="295046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対象欄にある有効な値を読み、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台帳を検索します。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69917" y="3711892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対象が公開する情報を利用</a:t>
                </a:r>
              </a:p>
            </p:txBody>
          </p:sp>
        </p:grpSp>
        <p:grpSp>
          <p:nvGrpSpPr>
            <p:cNvPr id="20" name="confirm-detected"/>
            <p:cNvGrpSpPr/>
            <p:nvPr/>
          </p:nvGrpSpPr>
          <p:grpSpPr>
            <a:xfrm>
              <a:off x="8248650" y="1752600"/>
              <a:ext cx="3333750" cy="2409825"/>
              <a:chOff x="8248650" y="1752600"/>
              <a:chExt cx="3333750" cy="24098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248650" y="1752600"/>
                <a:ext cx="3333750" cy="2409825"/>
              </a:xfrm>
              <a:prstGeom prst="roundRect">
                <a:avLst>
                  <a:gd name="adj" fmla="val 474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86394" y="1942148"/>
                <a:ext cx="24230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　対象を確定する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87918" y="2546032"/>
                <a:ext cx="2531364" cy="970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複数なら、人が選びます。</a:t>
                </a:r>
                <a:br/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自動の状態変更は、対象が</a:t>
                </a:r>
                <a:br/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確定してから行います。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89442" y="371189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状態変更は設定による</a:t>
                </a:r>
              </a:p>
            </p:txBody>
          </p:sp>
        </p:grpSp>
      </p:grpSp>
      <p:grpSp>
        <p:nvGrpSpPr>
          <p:cNvPr id="25" name="automatic-rule"/>
          <p:cNvGrpSpPr/>
          <p:nvPr/>
        </p:nvGrpSpPr>
        <p:grpSpPr>
          <a:xfrm>
            <a:off x="599694" y="4713922"/>
            <a:ext cx="9412224" cy="1271779"/>
            <a:chOff x="599694" y="4713922"/>
            <a:chExt cx="9412224" cy="1271779"/>
          </a:xfrm>
        </p:grpSpPr>
        <p:sp>
          <p:nvSpPr>
            <p:cNvPr id="22" name="TextBox 22"/>
            <p:cNvSpPr txBox="1"/>
            <p:nvPr/>
          </p:nvSpPr>
          <p:spPr>
            <a:xfrm>
              <a:off x="599694" y="4713922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自動で状態を変える設定は、監視からの検索にだけ働きます。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5203508"/>
              <a:ext cx="9123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手入力の検索は対象外です。対象アプリごとに、実際の窓で読み取りを確認してください。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5721668"/>
              <a:ext cx="9409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このページは設定・README・コードに基づく仕組みの説明です。本書制作では外部欄の読取を実演していません。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04266" y="6382702"/>
              <a:ext cx="6189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出典：README「表示・監視・省略値」、K216、Rdv3App.SearchJob / AutoCompleteDetected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7388962" cy="922972"/>
            <a:chOff x="594360" y="406718"/>
            <a:chExt cx="7388962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534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複数PCの配置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73889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複数PCでは、全員が同じ共有台帳を使う</a:t>
              </a:r>
            </a:p>
          </p:txBody>
        </p:sp>
      </p:grpSp>
      <p:grpSp>
        <p:nvGrpSpPr>
          <p:cNvPr id="22" name="shared-topology"/>
          <p:cNvGrpSpPr/>
          <p:nvPr/>
        </p:nvGrpSpPr>
        <p:grpSpPr>
          <a:xfrm>
            <a:off x="609600" y="1752600"/>
            <a:ext cx="10972800" cy="2466975"/>
            <a:chOff x="609600" y="1752600"/>
            <a:chExt cx="10972800" cy="2466975"/>
          </a:xfrm>
        </p:grpSpPr>
        <p:sp>
          <p:nvSpPr>
            <p:cNvPr id="5" name="Line 5"/>
            <p:cNvSpPr/>
            <p:nvPr/>
          </p:nvSpPr>
          <p:spPr>
            <a:xfrm>
              <a:off x="3581400" y="28003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524750" y="28003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grpSp>
          <p:nvGrpSpPr>
            <p:cNvPr id="11" name="pc-a"/>
            <p:cNvGrpSpPr/>
            <p:nvPr/>
          </p:nvGrpSpPr>
          <p:grpSpPr>
            <a:xfrm>
              <a:off x="609600" y="1752600"/>
              <a:ext cx="2971800" cy="2466975"/>
              <a:chOff x="609600" y="1752600"/>
              <a:chExt cx="2971800" cy="24669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752600"/>
                <a:ext cx="2971800" cy="2466975"/>
              </a:xfrm>
              <a:prstGeom prst="roundRect">
                <a:avLst>
                  <a:gd name="adj" fmla="val 46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45820" y="1947862"/>
                <a:ext cx="67814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PC A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8868" y="2526982"/>
                <a:ext cx="1923669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アプリと設定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このPCの未送信変更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50392" y="3740468"/>
                <a:ext cx="16603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未送信はPC Aに残る</a:t>
                </a:r>
              </a:p>
            </p:txBody>
          </p:sp>
        </p:grpSp>
        <p:grpSp>
          <p:nvGrpSpPr>
            <p:cNvPr id="16" name="one-ledger"/>
            <p:cNvGrpSpPr/>
            <p:nvPr/>
          </p:nvGrpSpPr>
          <p:grpSpPr>
            <a:xfrm>
              <a:off x="4667250" y="2000250"/>
              <a:ext cx="2857500" cy="1971675"/>
              <a:chOff x="4667250" y="2000250"/>
              <a:chExt cx="2857500" cy="19716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667250" y="2000250"/>
                <a:ext cx="2857500" cy="1971675"/>
              </a:xfrm>
              <a:prstGeom prst="roundRect">
                <a:avLst>
                  <a:gd name="adj" fmla="val 579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903470" y="2224088"/>
                <a:ext cx="201515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1つの共有台帳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06518" y="2803208"/>
                <a:ext cx="1923669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全PCから同じパスへ</a:t>
                </a:r>
                <a:br/>
                <a:r>
                  <a:rPr lang="ja-JP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送信・読み直し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908042" y="357854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付随ファイルも同じ場所</a:t>
                </a:r>
              </a:p>
            </p:txBody>
          </p:sp>
        </p:grpSp>
        <p:grpSp>
          <p:nvGrpSpPr>
            <p:cNvPr id="21" name="pc-b"/>
            <p:cNvGrpSpPr/>
            <p:nvPr/>
          </p:nvGrpSpPr>
          <p:grpSpPr>
            <a:xfrm>
              <a:off x="8610600" y="1752600"/>
              <a:ext cx="2971800" cy="2466975"/>
              <a:chOff x="8610600" y="1752600"/>
              <a:chExt cx="2971800" cy="24669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610600" y="1752600"/>
                <a:ext cx="2971800" cy="2466975"/>
              </a:xfrm>
              <a:prstGeom prst="roundRect">
                <a:avLst>
                  <a:gd name="adj" fmla="val 463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846820" y="1947862"/>
                <a:ext cx="67814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PC B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49868" y="2526982"/>
                <a:ext cx="1923669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アプリと設定</a:t>
                </a:r>
                <a:br/>
                <a:r>
                  <a:rPr lang="ja-JP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このPCの未送信変更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51392" y="3740468"/>
                <a:ext cx="16603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未送信はPC Bに残る</a:t>
                </a:r>
              </a:p>
            </p:txBody>
          </p:sp>
        </p:grpSp>
      </p:grpSp>
      <p:grpSp>
        <p:nvGrpSpPr>
          <p:cNvPr id="26" name="shared-rules"/>
          <p:cNvGrpSpPr/>
          <p:nvPr/>
        </p:nvGrpSpPr>
        <p:grpSpPr>
          <a:xfrm>
            <a:off x="599694" y="4685348"/>
            <a:ext cx="5832348" cy="1452753"/>
            <a:chOff x="599694" y="4685348"/>
            <a:chExt cx="5832348" cy="1452753"/>
          </a:xfrm>
        </p:grpSpPr>
        <p:sp>
          <p:nvSpPr>
            <p:cNvPr id="23" name="TextBox 23"/>
            <p:cNvSpPr txBox="1"/>
            <p:nvPr/>
          </p:nvSpPr>
          <p:spPr>
            <a:xfrm>
              <a:off x="599694" y="4685348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版・台帳の定義・共有先の権限を揃える。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218" y="5184458"/>
              <a:ext cx="56746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送信時には、共有先をロックして最新台帳を読み直します。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他の変更と競合した未送信分は残り、理由を確認できます。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2742" y="58740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台帳だけでなく、一時ファイル・付随ファイルの操作権限も必要です。</a:t>
              </a:r>
            </a:p>
          </p:txBody>
        </p:sp>
      </p:grpSp>
      <p:grpSp>
        <p:nvGrpSpPr>
          <p:cNvPr id="30" name="shared-note"/>
          <p:cNvGrpSpPr/>
          <p:nvPr/>
        </p:nvGrpSpPr>
        <p:grpSpPr>
          <a:xfrm>
            <a:off x="8020050" y="4600575"/>
            <a:ext cx="3562350" cy="1438275"/>
            <a:chOff x="8020050" y="4600575"/>
            <a:chExt cx="3562350" cy="1438275"/>
          </a:xfrm>
        </p:grpSpPr>
        <p:sp>
          <p:nvSpPr>
            <p:cNvPr id="27" name="Rectangle 27"/>
            <p:cNvSpPr/>
            <p:nvPr/>
          </p:nvSpPr>
          <p:spPr>
            <a:xfrm>
              <a:off x="8020050" y="4600575"/>
              <a:ext cx="3562350" cy="1438275"/>
            </a:xfrm>
            <a:prstGeom prst="roundRect">
              <a:avLst>
                <a:gd name="adj" fmla="val 794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40268" y="4784408"/>
              <a:ext cx="2383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Excelで開いているとき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41792" y="5216842"/>
              <a:ext cx="29283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台帳を保存できないことがあります。</a:t>
              </a:r>
              <a:br/>
              <a:r>
                <a:rPr lang="ja-JP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使用中の人を確認してください。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82702"/>
              <a:ext cx="6889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出典：docs/shared-ledger.md「配置」「送信処理」　／　仕組みの図。今回の制作で複数PC試験は未実施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4360" y="406718"/>
            <a:ext cx="8107680" cy="922972"/>
            <a:chOff x="594360" y="406718"/>
            <a:chExt cx="8107680" cy="9229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06718"/>
              <a:ext cx="3313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更新・削除・共有　／　困ったとき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42950"/>
              <a:ext cx="810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見つからない・送れないときは、状況を残す</a:t>
              </a:r>
            </a:p>
          </p:txBody>
        </p:sp>
      </p:grpSp>
      <p:grpSp>
        <p:nvGrpSpPr>
          <p:cNvPr id="9" name="help-instructions"/>
          <p:cNvGrpSpPr/>
          <p:nvPr/>
        </p:nvGrpSpPr>
        <p:grpSpPr>
          <a:xfrm>
            <a:off x="599694" y="1713548"/>
            <a:ext cx="4628388" cy="2479167"/>
            <a:chOff x="599694" y="1713548"/>
            <a:chExt cx="4628388" cy="2479167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71354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番号が見つからない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2174558"/>
              <a:ext cx="46268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入力した番号と、読み込んだ台帳を確認します。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お知らせは画面の最下段に出ます。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08514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変更を送信できない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3546158"/>
              <a:ext cx="42077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共有先への接続と、使用中のExcelを確認。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未送信件数と、画面に出た理由を控えます。</a:t>
              </a:r>
            </a:p>
          </p:txBody>
        </p:sp>
      </p:grpSp>
      <p:grpSp>
        <p:nvGrpSpPr>
          <p:cNvPr id="14" name="log-location"/>
          <p:cNvGrpSpPr/>
          <p:nvPr/>
        </p:nvGrpSpPr>
        <p:grpSpPr>
          <a:xfrm>
            <a:off x="609600" y="4819650"/>
            <a:ext cx="5905500" cy="1409700"/>
            <a:chOff x="609600" y="4819650"/>
            <a:chExt cx="5905500" cy="1409700"/>
          </a:xfrm>
        </p:grpSpPr>
        <p:sp>
          <p:nvSpPr>
            <p:cNvPr id="10" name="Rectangle 10"/>
            <p:cNvSpPr/>
            <p:nvPr/>
          </p:nvSpPr>
          <p:spPr>
            <a:xfrm>
              <a:off x="609600" y="4819650"/>
              <a:ext cx="59055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0768" y="49653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担当者へ、操作・番号・時刻・ログを渡す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2292" y="5378768"/>
              <a:ext cx="5008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%LOCALAPPDATA%\ReaderDataViewer\logs\feedback.log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3054" y="5728335"/>
              <a:ext cx="529285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書けない場合は %TEMP% 内の同じ場所。該当実行のBEGIN〜ENDを含めます。</a:t>
              </a:r>
              <a:br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ログにはパスや値が入るため、共有範囲を確認してください。</a:t>
              </a:r>
            </a:p>
          </p:txBody>
        </p:sp>
      </p:grpSp>
      <p:grpSp>
        <p:nvGrpSpPr>
          <p:cNvPr id="16" name="not-found-screen"/>
          <p:cNvGrpSpPr/>
          <p:nvPr/>
        </p:nvGrpSpPr>
        <p:grpSpPr>
          <a:xfrm>
            <a:off x="6819900" y="1714500"/>
            <a:ext cx="4762500" cy="4097369"/>
            <a:chOff x="6819900" y="1714500"/>
            <a:chExt cx="4762500" cy="4097369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9900" y="1714500"/>
              <a:ext cx="4762500" cy="4097369"/>
            </a:xfrm>
            <a:prstGeom prst="rect">
              <a:avLst/>
            </a:prstGeom>
          </p:spPr>
        </p:pic>
      </p:grpSp>
      <p:grpSp>
        <p:nvGrpSpPr>
          <p:cNvPr id="18" name="not-found-caption"/>
          <p:cNvGrpSpPr/>
          <p:nvPr/>
        </p:nvGrpSpPr>
        <p:grpSpPr>
          <a:xfrm>
            <a:off x="6813804" y="6023610"/>
            <a:ext cx="2758440" cy="234696"/>
            <a:chOff x="6813804" y="6023610"/>
            <a:chExt cx="2758440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813804" y="60236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実画面：一致する番号がなかった場合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604266" y="6382702"/>
              <a:ext cx="5834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出典：README「エラーを返すファイルログ」・docs/shared-ledger.md「障害時の確認」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message"/>
          <p:cNvGrpSpPr/>
          <p:nvPr/>
        </p:nvGrpSpPr>
        <p:grpSpPr>
          <a:xfrm>
            <a:off x="590550" y="621982"/>
            <a:ext cx="7440702" cy="2069783"/>
            <a:chOff x="590550" y="621982"/>
            <a:chExt cx="7440702" cy="2069783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621982"/>
              <a:ext cx="39975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Reader Data Viewer　操作マニュアル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239202"/>
              <a:ext cx="744070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まずは、この1件を最後まで。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4360" y="2105025"/>
              <a:ext cx="29876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AA10000000AA</a:t>
              </a:r>
            </a:p>
          </p:txBody>
        </p:sp>
      </p:grpSp>
      <p:grpSp>
        <p:nvGrpSpPr>
          <p:cNvPr id="27" name="closing-sequence"/>
          <p:cNvGrpSpPr/>
          <p:nvPr/>
        </p:nvGrpSpPr>
        <p:grpSpPr>
          <a:xfrm>
            <a:off x="609600" y="3133725"/>
            <a:ext cx="10972800" cy="1143000"/>
            <a:chOff x="609600" y="3133725"/>
            <a:chExt cx="10972800" cy="1143000"/>
          </a:xfrm>
        </p:grpSpPr>
        <p:sp>
          <p:nvSpPr>
            <p:cNvPr id="6" name="Line 6"/>
            <p:cNvSpPr/>
            <p:nvPr/>
          </p:nvSpPr>
          <p:spPr>
            <a:xfrm>
              <a:off x="1162050" y="3686175"/>
              <a:ext cx="9848850" cy="9525"/>
            </a:xfrm>
            <a:custGeom>
              <a:avLst/>
              <a:gdLst/>
              <a:ahLst/>
              <a:cxnLst/>
              <a:rect l="l" t="t" r="r" b="b"/>
              <a:pathLst>
                <a:path w="9848850" h="9525">
                  <a:moveTo>
                    <a:pt x="0" y="0"/>
                  </a:moveTo>
                  <a:lnTo>
                    <a:pt x="98488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0" name="close-search"/>
            <p:cNvGrpSpPr/>
            <p:nvPr/>
          </p:nvGrpSpPr>
          <p:grpSpPr>
            <a:xfrm>
              <a:off x="609600" y="3133725"/>
              <a:ext cx="1933575" cy="1143000"/>
              <a:chOff x="609600" y="3133725"/>
              <a:chExt cx="1933575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3133725"/>
                <a:ext cx="193357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1342" y="3349942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28294" y="37233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検索する</a:t>
                </a:r>
              </a:p>
            </p:txBody>
          </p:sp>
        </p:grpSp>
        <p:grpSp>
          <p:nvGrpSpPr>
            <p:cNvPr id="14" name="close-review"/>
            <p:cNvGrpSpPr/>
            <p:nvPr/>
          </p:nvGrpSpPr>
          <p:grpSpPr>
            <a:xfrm>
              <a:off x="2867025" y="3133725"/>
              <a:ext cx="1933575" cy="1143000"/>
              <a:chOff x="2867025" y="3133725"/>
              <a:chExt cx="1933575" cy="114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2867025" y="3133725"/>
                <a:ext cx="193357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088767" y="3349942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085719" y="3723322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内容を見る</a:t>
                </a:r>
              </a:p>
            </p:txBody>
          </p:sp>
        </p:grpSp>
        <p:grpSp>
          <p:nvGrpSpPr>
            <p:cNvPr id="18" name="close-state"/>
            <p:cNvGrpSpPr/>
            <p:nvPr/>
          </p:nvGrpSpPr>
          <p:grpSpPr>
            <a:xfrm>
              <a:off x="5124450" y="3133725"/>
              <a:ext cx="1933575" cy="1143000"/>
              <a:chOff x="5124450" y="3133725"/>
              <a:chExt cx="1933575" cy="1143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124450" y="3133725"/>
                <a:ext cx="193357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46192" y="3349942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43144" y="3723322"/>
                <a:ext cx="15948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処理済にする</a:t>
                </a:r>
              </a:p>
            </p:txBody>
          </p:sp>
        </p:grpSp>
        <p:grpSp>
          <p:nvGrpSpPr>
            <p:cNvPr id="22" name="close-send"/>
            <p:cNvGrpSpPr/>
            <p:nvPr/>
          </p:nvGrpSpPr>
          <p:grpSpPr>
            <a:xfrm>
              <a:off x="7381875" y="3133725"/>
              <a:ext cx="1933575" cy="1143000"/>
              <a:chOff x="7381875" y="3133725"/>
              <a:chExt cx="1933575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381875" y="3133725"/>
                <a:ext cx="1933575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03617" y="3349942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00569" y="3723322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送信する</a:t>
                </a:r>
              </a:p>
            </p:txBody>
          </p:sp>
        </p:grpSp>
        <p:grpSp>
          <p:nvGrpSpPr>
            <p:cNvPr id="26" name="close-confirm"/>
            <p:cNvGrpSpPr/>
            <p:nvPr/>
          </p:nvGrpSpPr>
          <p:grpSpPr>
            <a:xfrm>
              <a:off x="9639300" y="3133725"/>
              <a:ext cx="1943100" cy="1143000"/>
              <a:chOff x="9639300" y="3133725"/>
              <a:chExt cx="19431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639300" y="3133725"/>
                <a:ext cx="19431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61042" y="3349942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857994" y="3723322"/>
                <a:ext cx="122144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9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未送信0件</a:t>
                </a:r>
              </a:p>
            </p:txBody>
          </p:sp>
        </p:grpSp>
      </p:grpSp>
      <p:grpSp>
        <p:nvGrpSpPr>
          <p:cNvPr id="30" name="further-reading"/>
          <p:cNvGrpSpPr/>
          <p:nvPr/>
        </p:nvGrpSpPr>
        <p:grpSpPr>
          <a:xfrm>
            <a:off x="599694" y="4923472"/>
            <a:ext cx="6158103" cy="1155192"/>
            <a:chOff x="599694" y="4923472"/>
            <a:chExt cx="6158103" cy="1155192"/>
          </a:xfrm>
        </p:grpSpPr>
        <p:sp>
          <p:nvSpPr>
            <p:cNvPr id="28" name="TextBox 28"/>
            <p:cNvSpPr txBox="1"/>
            <p:nvPr/>
          </p:nvSpPr>
          <p:spPr>
            <a:xfrm>
              <a:off x="599694" y="4923472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詳しく知りたいとき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218" y="5403532"/>
              <a:ext cx="6156579" cy="675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業務サンプル：PAYMENT-GUIDE.md　　設定の作成：README.md</a:t>
              </a:r>
              <a:br/>
              <a:r>
                <a:rPr lang="ja-JP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複数PCの準備と制約：docs/shared-ledger.md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82702"/>
            <a:ext cx="10983468" cy="205359"/>
            <a:chOff x="604266" y="638270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827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従来版 adcba63・架空の同梱サンプル　／　2026年9月15日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3540" y="63827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anual-reader-data-viewer-astra">
  <a:themeElements>
    <a:clrScheme name="manual-reader-data-viewer-astra">
      <a:dk1>
        <a:srgbClr val="1F2A37"/>
      </a:dk1>
      <a:lt1>
        <a:srgbClr val="FFFFFF"/>
      </a:lt1>
      <a:dk2>
        <a:srgbClr val="1F2A37"/>
      </a:dk2>
      <a:lt2>
        <a:srgbClr val="F2F6FB"/>
      </a:lt2>
      <a:accent1>
        <a:srgbClr val="24507F"/>
      </a:accent1>
      <a:accent2>
        <a:srgbClr val="C05B21"/>
      </a:accent2>
      <a:accent3>
        <a:srgbClr val="2B5C96"/>
      </a:accent3>
      <a:accent4>
        <a:srgbClr val="24507F"/>
      </a:accent4>
      <a:accent5>
        <a:srgbClr val="5D6B7A"/>
      </a:accent5>
      <a:accent6>
        <a:srgbClr val="CFD7DE"/>
      </a:accent6>
      <a:hlink>
        <a:srgbClr val="C05B21"/>
      </a:hlink>
      <a:folHlink>
        <a:srgbClr val="2B5C96"/>
      </a:folHlink>
    </a:clrScheme>
    <a:fontScheme name="manual-reader-data-viewer-astra">
      <a:maj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Yu Gothic UI"/>
        <a:cs typeface="Segoe UI"/>
        <a:font script="Jpan" typeface="Yu Gothic UI"/>
        <a:font script="Hang" typeface="Yu Gothic UI"/>
        <a:font script="Hans" typeface="Yu Gothic UI"/>
        <a:font script="Hant" typeface="Yu Gothic U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ual-reader-data-viewer-ast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2026-09-15T02:12:14Z</dcterms:created>
  <dcterms:modified xsi:type="dcterms:W3CDTF">2026-09-15T02:12:14Z</dcterms:modified>
  <cp:category/>
  <cp:contentStatus/>
</cp:coreProperties>
</file>